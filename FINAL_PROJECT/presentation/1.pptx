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0" r:id="rId2"/>
    <p:sldId id="281" r:id="rId3"/>
    <p:sldId id="257" r:id="rId4"/>
    <p:sldId id="256"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66"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03979-C662-4077-A82F-1FF1261D0569}" type="datetimeFigureOut">
              <a:rPr lang="uk-UA" smtClean="0"/>
              <a:t>15.07.2026</a:t>
            </a:fld>
            <a:endParaRPr lang="uk-UA"/>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67473-1A5D-402C-B7BB-AE49D4E2D86C}" type="slidenum">
              <a:rPr lang="uk-UA" smtClean="0"/>
              <a:t>‹№›</a:t>
            </a:fld>
            <a:endParaRPr lang="uk-UA"/>
          </a:p>
        </p:txBody>
      </p:sp>
    </p:spTree>
    <p:extLst>
      <p:ext uri="{BB962C8B-B14F-4D97-AF65-F5344CB8AC3E}">
        <p14:creationId xmlns:p14="http://schemas.microsoft.com/office/powerpoint/2010/main" val="2644264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BAC833-C3B6-EA0B-37F8-53EC9D35EB65}"/>
              </a:ext>
            </a:extLst>
          </p:cNvPr>
          <p:cNvSpPr>
            <a:spLocks noGrp="1"/>
          </p:cNvSpPr>
          <p:nvPr>
            <p:ph type="ctrTitle"/>
          </p:nvPr>
        </p:nvSpPr>
        <p:spPr>
          <a:xfrm>
            <a:off x="1524000" y="1122363"/>
            <a:ext cx="9144000" cy="2387600"/>
          </a:xfrm>
        </p:spPr>
        <p:txBody>
          <a:bodyPr anchor="b"/>
          <a:lstStyle>
            <a:lvl1pPr algn="ctr">
              <a:defRPr sz="6000"/>
            </a:lvl1pPr>
          </a:lstStyle>
          <a:p>
            <a:r>
              <a:rPr lang="uk-UA"/>
              <a:t>Клацніть, щоб редагувати стиль зразка заголовка</a:t>
            </a:r>
          </a:p>
        </p:txBody>
      </p:sp>
      <p:sp>
        <p:nvSpPr>
          <p:cNvPr id="3" name="Підзаголовок 2">
            <a:extLst>
              <a:ext uri="{FF2B5EF4-FFF2-40B4-BE49-F238E27FC236}">
                <a16:creationId xmlns:a16="http://schemas.microsoft.com/office/drawing/2014/main" id="{FAC8440F-E100-4A78-BF6F-610F97C95F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p>
        </p:txBody>
      </p:sp>
      <p:sp>
        <p:nvSpPr>
          <p:cNvPr id="4" name="Місце для дати 3">
            <a:extLst>
              <a:ext uri="{FF2B5EF4-FFF2-40B4-BE49-F238E27FC236}">
                <a16:creationId xmlns:a16="http://schemas.microsoft.com/office/drawing/2014/main" id="{973D1B54-61EF-2ABE-1C8E-320972977A9E}"/>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5" name="Місце для нижнього колонтитула 4">
            <a:extLst>
              <a:ext uri="{FF2B5EF4-FFF2-40B4-BE49-F238E27FC236}">
                <a16:creationId xmlns:a16="http://schemas.microsoft.com/office/drawing/2014/main" id="{34FCB347-D44D-2496-58BD-6C20ED517BF6}"/>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C54FFAD8-045C-626E-D1B3-5FD1662C6017}"/>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2859800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A09DF0-C84B-8FBD-8318-B00C9F1B3C77}"/>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66BB2CF5-17E7-784A-FF49-AA4D5C881DFC}"/>
              </a:ext>
            </a:extLst>
          </p:cNvPr>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57B3BDD7-54F5-358B-FCF5-9A8503ADF845}"/>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5" name="Місце для нижнього колонтитула 4">
            <a:extLst>
              <a:ext uri="{FF2B5EF4-FFF2-40B4-BE49-F238E27FC236}">
                <a16:creationId xmlns:a16="http://schemas.microsoft.com/office/drawing/2014/main" id="{533EEEC2-A2F4-CE1D-69B0-251E428BD11C}"/>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2567ADDA-D8A3-DA94-28CD-8D896F898EA1}"/>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369461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A1DE70-AA72-EE13-859A-89730A7A7117}"/>
              </a:ext>
            </a:extLst>
          </p:cNvPr>
          <p:cNvSpPr>
            <a:spLocks noGrp="1"/>
          </p:cNvSpPr>
          <p:nvPr>
            <p:ph type="title"/>
          </p:nvPr>
        </p:nvSpPr>
        <p:spPr>
          <a:xfrm>
            <a:off x="831850" y="1709738"/>
            <a:ext cx="10515600" cy="2852737"/>
          </a:xfrm>
        </p:spPr>
        <p:txBody>
          <a:bodyPr anchor="b"/>
          <a:lstStyle>
            <a:lvl1pPr>
              <a:defRPr sz="6000"/>
            </a:lvl1p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9CB684CF-1A50-D696-3619-93A1A3A0FE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Місце для дати 3">
            <a:extLst>
              <a:ext uri="{FF2B5EF4-FFF2-40B4-BE49-F238E27FC236}">
                <a16:creationId xmlns:a16="http://schemas.microsoft.com/office/drawing/2014/main" id="{36E87AE9-879D-E09F-7A43-F90B48953F62}"/>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5" name="Місце для нижнього колонтитула 4">
            <a:extLst>
              <a:ext uri="{FF2B5EF4-FFF2-40B4-BE49-F238E27FC236}">
                <a16:creationId xmlns:a16="http://schemas.microsoft.com/office/drawing/2014/main" id="{A5AF0785-D825-20F0-6765-FD3E8AC462E3}"/>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967F0E81-849E-924C-CA96-BAE43FC1DE3D}"/>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244755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EE30F2-F81A-CC83-6D12-EC9D099143D7}"/>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6D828E77-696E-7F24-CBAA-86AB4DAB5893}"/>
              </a:ext>
            </a:extLst>
          </p:cNvPr>
          <p:cNvSpPr>
            <a:spLocks noGrp="1"/>
          </p:cNvSpPr>
          <p:nvPr>
            <p:ph sz="half" idx="1"/>
          </p:nvPr>
        </p:nvSpPr>
        <p:spPr>
          <a:xfrm>
            <a:off x="838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вмісту 3">
            <a:extLst>
              <a:ext uri="{FF2B5EF4-FFF2-40B4-BE49-F238E27FC236}">
                <a16:creationId xmlns:a16="http://schemas.microsoft.com/office/drawing/2014/main" id="{CAABFF37-F715-B821-B557-B82CD47899F8}"/>
              </a:ext>
            </a:extLst>
          </p:cNvPr>
          <p:cNvSpPr>
            <a:spLocks noGrp="1"/>
          </p:cNvSpPr>
          <p:nvPr>
            <p:ph sz="half" idx="2"/>
          </p:nvPr>
        </p:nvSpPr>
        <p:spPr>
          <a:xfrm>
            <a:off x="6172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дати 4">
            <a:extLst>
              <a:ext uri="{FF2B5EF4-FFF2-40B4-BE49-F238E27FC236}">
                <a16:creationId xmlns:a16="http://schemas.microsoft.com/office/drawing/2014/main" id="{82F43E90-FFC8-264A-EDCD-91B6AD474C40}"/>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6" name="Місце для нижнього колонтитула 5">
            <a:extLst>
              <a:ext uri="{FF2B5EF4-FFF2-40B4-BE49-F238E27FC236}">
                <a16:creationId xmlns:a16="http://schemas.microsoft.com/office/drawing/2014/main" id="{7EBCD628-73EA-0115-FBBE-AD9925336DDE}"/>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C83DEB73-F7DD-B7EE-74CC-FB1A2FCC9D35}"/>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3079085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5C0CAD-4595-C80B-6A84-E3814CFE503D}"/>
              </a:ext>
            </a:extLst>
          </p:cNvPr>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0080125E-BA8B-A542-63CD-D4F67EF7C1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Місце для вмісту 3">
            <a:extLst>
              <a:ext uri="{FF2B5EF4-FFF2-40B4-BE49-F238E27FC236}">
                <a16:creationId xmlns:a16="http://schemas.microsoft.com/office/drawing/2014/main" id="{02ADC938-FF2B-A025-AF8E-492954B42820}"/>
              </a:ext>
            </a:extLst>
          </p:cNvPr>
          <p:cNvSpPr>
            <a:spLocks noGrp="1"/>
          </p:cNvSpPr>
          <p:nvPr>
            <p:ph sz="half" idx="2"/>
          </p:nvPr>
        </p:nvSpPr>
        <p:spPr>
          <a:xfrm>
            <a:off x="839788" y="2505075"/>
            <a:ext cx="5157787"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тексту 4">
            <a:extLst>
              <a:ext uri="{FF2B5EF4-FFF2-40B4-BE49-F238E27FC236}">
                <a16:creationId xmlns:a16="http://schemas.microsoft.com/office/drawing/2014/main" id="{9AD5853A-404F-407F-EE52-8ECE5F1F2D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Місце для вмісту 5">
            <a:extLst>
              <a:ext uri="{FF2B5EF4-FFF2-40B4-BE49-F238E27FC236}">
                <a16:creationId xmlns:a16="http://schemas.microsoft.com/office/drawing/2014/main" id="{94BB0FD3-E2CF-231C-4359-C08C7B904591}"/>
              </a:ext>
            </a:extLst>
          </p:cNvPr>
          <p:cNvSpPr>
            <a:spLocks noGrp="1"/>
          </p:cNvSpPr>
          <p:nvPr>
            <p:ph sz="quarter" idx="4"/>
          </p:nvPr>
        </p:nvSpPr>
        <p:spPr>
          <a:xfrm>
            <a:off x="6172200" y="2505075"/>
            <a:ext cx="518318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7" name="Місце для дати 6">
            <a:extLst>
              <a:ext uri="{FF2B5EF4-FFF2-40B4-BE49-F238E27FC236}">
                <a16:creationId xmlns:a16="http://schemas.microsoft.com/office/drawing/2014/main" id="{1BA92EE1-B001-F7B8-5752-D9A97FCADF2A}"/>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8" name="Місце для нижнього колонтитула 7">
            <a:extLst>
              <a:ext uri="{FF2B5EF4-FFF2-40B4-BE49-F238E27FC236}">
                <a16:creationId xmlns:a16="http://schemas.microsoft.com/office/drawing/2014/main" id="{EC10B8F7-2C13-1DDD-491E-9CB1455F668B}"/>
              </a:ext>
            </a:extLst>
          </p:cNvPr>
          <p:cNvSpPr>
            <a:spLocks noGrp="1"/>
          </p:cNvSpPr>
          <p:nvPr>
            <p:ph type="ftr" sz="quarter" idx="11"/>
          </p:nvPr>
        </p:nvSpPr>
        <p:spPr/>
        <p:txBody>
          <a:bodyPr/>
          <a:lstStyle/>
          <a:p>
            <a:endParaRPr lang="uk-UA"/>
          </a:p>
        </p:txBody>
      </p:sp>
      <p:sp>
        <p:nvSpPr>
          <p:cNvPr id="9" name="Місце для номера слайда 8">
            <a:extLst>
              <a:ext uri="{FF2B5EF4-FFF2-40B4-BE49-F238E27FC236}">
                <a16:creationId xmlns:a16="http://schemas.microsoft.com/office/drawing/2014/main" id="{EE54CC58-B8F7-22A8-6716-8572EA1F8A60}"/>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4259216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FCCB6A-0E78-8028-D32E-951243B1B1CB}"/>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дати 2">
            <a:extLst>
              <a:ext uri="{FF2B5EF4-FFF2-40B4-BE49-F238E27FC236}">
                <a16:creationId xmlns:a16="http://schemas.microsoft.com/office/drawing/2014/main" id="{A69E0789-9404-6D18-9DB8-39BF27F56CA3}"/>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4" name="Місце для нижнього колонтитула 3">
            <a:extLst>
              <a:ext uri="{FF2B5EF4-FFF2-40B4-BE49-F238E27FC236}">
                <a16:creationId xmlns:a16="http://schemas.microsoft.com/office/drawing/2014/main" id="{F62F37E2-6FEC-F4D5-15FE-C5DAC7E8B855}"/>
              </a:ext>
            </a:extLst>
          </p:cNvPr>
          <p:cNvSpPr>
            <a:spLocks noGrp="1"/>
          </p:cNvSpPr>
          <p:nvPr>
            <p:ph type="ftr" sz="quarter" idx="11"/>
          </p:nvPr>
        </p:nvSpPr>
        <p:spPr/>
        <p:txBody>
          <a:bodyPr/>
          <a:lstStyle/>
          <a:p>
            <a:endParaRPr lang="uk-UA"/>
          </a:p>
        </p:txBody>
      </p:sp>
      <p:sp>
        <p:nvSpPr>
          <p:cNvPr id="5" name="Місце для номера слайда 4">
            <a:extLst>
              <a:ext uri="{FF2B5EF4-FFF2-40B4-BE49-F238E27FC236}">
                <a16:creationId xmlns:a16="http://schemas.microsoft.com/office/drawing/2014/main" id="{9B9193C1-A71A-F282-6662-646D35B903C3}"/>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2223959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Місце для дати 1">
            <a:extLst>
              <a:ext uri="{FF2B5EF4-FFF2-40B4-BE49-F238E27FC236}">
                <a16:creationId xmlns:a16="http://schemas.microsoft.com/office/drawing/2014/main" id="{8B44F76E-4F01-2BEE-4A24-619C89650CB9}"/>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3" name="Місце для нижнього колонтитула 2">
            <a:extLst>
              <a:ext uri="{FF2B5EF4-FFF2-40B4-BE49-F238E27FC236}">
                <a16:creationId xmlns:a16="http://schemas.microsoft.com/office/drawing/2014/main" id="{1D76FE96-998F-98E6-5CD4-741146BDEB21}"/>
              </a:ext>
            </a:extLst>
          </p:cNvPr>
          <p:cNvSpPr>
            <a:spLocks noGrp="1"/>
          </p:cNvSpPr>
          <p:nvPr>
            <p:ph type="ftr" sz="quarter" idx="11"/>
          </p:nvPr>
        </p:nvSpPr>
        <p:spPr/>
        <p:txBody>
          <a:bodyPr/>
          <a:lstStyle/>
          <a:p>
            <a:endParaRPr lang="uk-UA"/>
          </a:p>
        </p:txBody>
      </p:sp>
      <p:sp>
        <p:nvSpPr>
          <p:cNvPr id="4" name="Місце для номера слайда 3">
            <a:extLst>
              <a:ext uri="{FF2B5EF4-FFF2-40B4-BE49-F238E27FC236}">
                <a16:creationId xmlns:a16="http://schemas.microsoft.com/office/drawing/2014/main" id="{406C4228-F2B7-4C79-9209-C99859543B6E}"/>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3436440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3EFB20-59D7-7448-FCB7-FD46E217F42E}"/>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1DF544FA-BCC1-2F9E-B22F-080504AAE0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тексту 3">
            <a:extLst>
              <a:ext uri="{FF2B5EF4-FFF2-40B4-BE49-F238E27FC236}">
                <a16:creationId xmlns:a16="http://schemas.microsoft.com/office/drawing/2014/main" id="{9AAACF0F-AB02-6263-C901-8B83B1DDF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D483F92A-77DA-E6F9-C07D-6EEB4F483536}"/>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6" name="Місце для нижнього колонтитула 5">
            <a:extLst>
              <a:ext uri="{FF2B5EF4-FFF2-40B4-BE49-F238E27FC236}">
                <a16:creationId xmlns:a16="http://schemas.microsoft.com/office/drawing/2014/main" id="{03BE85E9-6AE5-5C3D-889C-FC5DDB4BCC3F}"/>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51372786-17E2-F8D7-9969-9893D5029F1B}"/>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1918952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99FCDF-CCFB-2DD9-01EC-D40D352A2403}"/>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зображення 2">
            <a:extLst>
              <a:ext uri="{FF2B5EF4-FFF2-40B4-BE49-F238E27FC236}">
                <a16:creationId xmlns:a16="http://schemas.microsoft.com/office/drawing/2014/main" id="{8CA42B2D-BD22-A694-5D29-EDCD7F1A51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Місце для тексту 3">
            <a:extLst>
              <a:ext uri="{FF2B5EF4-FFF2-40B4-BE49-F238E27FC236}">
                <a16:creationId xmlns:a16="http://schemas.microsoft.com/office/drawing/2014/main" id="{1E3345FC-3BB8-71B1-61EA-1042D559D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0151F15F-CAF5-7E97-5C7E-F1BDCC2D8DEC}"/>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6" name="Місце для нижнього колонтитула 5">
            <a:extLst>
              <a:ext uri="{FF2B5EF4-FFF2-40B4-BE49-F238E27FC236}">
                <a16:creationId xmlns:a16="http://schemas.microsoft.com/office/drawing/2014/main" id="{CDD88369-E63B-2F01-A5FF-9FF05F209448}"/>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66CA99F1-EFA9-AE9C-7170-9E18CFDE2026}"/>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4187483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18A63A-66A2-8FF7-5418-83EFE7AC21FB}"/>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CC8A1095-1A21-FD69-9C50-AB6EF3146D21}"/>
              </a:ext>
            </a:extLst>
          </p:cNvPr>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A781E44F-57CE-B5E4-2D78-E57029E29098}"/>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5" name="Місце для нижнього колонтитула 4">
            <a:extLst>
              <a:ext uri="{FF2B5EF4-FFF2-40B4-BE49-F238E27FC236}">
                <a16:creationId xmlns:a16="http://schemas.microsoft.com/office/drawing/2014/main" id="{31D589B9-2426-231B-219A-33E132C8AEB5}"/>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11044DB9-9414-357D-0074-C83EB8EFFEF7}"/>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1420607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Вертикальний заголовок 1">
            <a:extLst>
              <a:ext uri="{FF2B5EF4-FFF2-40B4-BE49-F238E27FC236}">
                <a16:creationId xmlns:a16="http://schemas.microsoft.com/office/drawing/2014/main" id="{F71A3395-1374-1262-8451-CD177D594653}"/>
              </a:ext>
            </a:extLst>
          </p:cNvPr>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27C88A85-63CD-0A40-69FC-2D22F79842C2}"/>
              </a:ext>
            </a:extLst>
          </p:cNvPr>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98841372-3A57-52EC-B446-5FC955BA8162}"/>
              </a:ext>
            </a:extLst>
          </p:cNvPr>
          <p:cNvSpPr>
            <a:spLocks noGrp="1"/>
          </p:cNvSpPr>
          <p:nvPr>
            <p:ph type="dt" sz="half" idx="10"/>
          </p:nvPr>
        </p:nvSpPr>
        <p:spPr/>
        <p:txBody>
          <a:bodyPr/>
          <a:lstStyle/>
          <a:p>
            <a:fld id="{640A28E7-03AE-4245-864C-B2A53D6B27C7}" type="datetimeFigureOut">
              <a:rPr lang="uk-UA" smtClean="0"/>
              <a:t>15.07.2026</a:t>
            </a:fld>
            <a:endParaRPr lang="uk-UA"/>
          </a:p>
        </p:txBody>
      </p:sp>
      <p:sp>
        <p:nvSpPr>
          <p:cNvPr id="5" name="Місце для нижнього колонтитула 4">
            <a:extLst>
              <a:ext uri="{FF2B5EF4-FFF2-40B4-BE49-F238E27FC236}">
                <a16:creationId xmlns:a16="http://schemas.microsoft.com/office/drawing/2014/main" id="{1A9AAE51-B739-23BB-006D-589F830DDBF2}"/>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34F33C29-DB86-C8C1-5C09-F1412843EEE0}"/>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4089887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заголовка 1">
            <a:extLst>
              <a:ext uri="{FF2B5EF4-FFF2-40B4-BE49-F238E27FC236}">
                <a16:creationId xmlns:a16="http://schemas.microsoft.com/office/drawing/2014/main" id="{739E64FB-88ED-EEC8-E86B-80564D4B2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488395D4-DA3F-A7E5-0131-524B6D1498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EB1DCB21-404F-09E5-F461-3ACE08D781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0A28E7-03AE-4245-864C-B2A53D6B27C7}" type="datetimeFigureOut">
              <a:rPr lang="uk-UA" smtClean="0"/>
              <a:t>15.07.2026</a:t>
            </a:fld>
            <a:endParaRPr lang="uk-UA"/>
          </a:p>
        </p:txBody>
      </p:sp>
      <p:sp>
        <p:nvSpPr>
          <p:cNvPr id="5" name="Місце для нижнього колонтитула 4">
            <a:extLst>
              <a:ext uri="{FF2B5EF4-FFF2-40B4-BE49-F238E27FC236}">
                <a16:creationId xmlns:a16="http://schemas.microsoft.com/office/drawing/2014/main" id="{D0ACD6C1-C5C8-6AFF-769A-51FEF30899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Місце для номера слайда 5">
            <a:extLst>
              <a:ext uri="{FF2B5EF4-FFF2-40B4-BE49-F238E27FC236}">
                <a16:creationId xmlns:a16="http://schemas.microsoft.com/office/drawing/2014/main" id="{42431360-13C9-2B37-F4E6-6E032AFC72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39FE38-3699-4004-A4E3-2D5F424C1CEA}" type="slidenum">
              <a:rPr lang="uk-UA" smtClean="0"/>
              <a:t>‹№›</a:t>
            </a:fld>
            <a:endParaRPr lang="uk-UA"/>
          </a:p>
        </p:txBody>
      </p:sp>
    </p:spTree>
    <p:extLst>
      <p:ext uri="{BB962C8B-B14F-4D97-AF65-F5344CB8AC3E}">
        <p14:creationId xmlns:p14="http://schemas.microsoft.com/office/powerpoint/2010/main" val="3099523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23.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slide" Target="slide19.xml"/><Relationship Id="rId5" Type="http://schemas.openxmlformats.org/officeDocument/2006/relationships/slide" Target="slide5.xml"/><Relationship Id="rId10" Type="http://schemas.openxmlformats.org/officeDocument/2006/relationships/slide" Target="slide16.xml"/><Relationship Id="rId4" Type="http://schemas.openxmlformats.org/officeDocument/2006/relationships/slide" Target="slide4.xml"/><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slide" Target="slide7.xml"/><Relationship Id="rId7" Type="http://schemas.openxmlformats.org/officeDocument/2006/relationships/slide" Target="slide19.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 Target="slide16.xml"/><Relationship Id="rId5" Type="http://schemas.openxmlformats.org/officeDocument/2006/relationships/slide" Target="slide14.xml"/><Relationship Id="rId4" Type="http://schemas.openxmlformats.org/officeDocument/2006/relationships/slide" Target="slide8.xml"/><Relationship Id="rId9" Type="http://schemas.openxmlformats.org/officeDocument/2006/relationships/slide" Target="slide2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slide" Target="slide11.xml"/><Relationship Id="rId4" Type="http://schemas.openxmlformats.org/officeDocument/2006/relationships/slide" Target="slide10.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slide" Target="slide1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linkedin.com/in/marko-haiduk-0725893b7/?locale=en"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github.com/haidukm95-byt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6AD5-0BD2-637E-E748-ABAE306A489E}"/>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F5D75242-0C45-0945-3D6E-F72EC195CD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2F60B5CD-8148-29ED-0BEF-ADF43C370AE4}"/>
              </a:ext>
            </a:extLst>
          </p:cNvPr>
          <p:cNvSpPr>
            <a:spLocks noGrp="1"/>
          </p:cNvSpPr>
          <p:nvPr>
            <p:ph type="ctrTitle"/>
          </p:nvPr>
        </p:nvSpPr>
        <p:spPr>
          <a:xfrm>
            <a:off x="1524000" y="1490125"/>
            <a:ext cx="9144000" cy="1023425"/>
          </a:xfrm>
          <a:solidFill>
            <a:srgbClr val="FFFFFF">
              <a:alpha val="50196"/>
            </a:srgbClr>
          </a:solidFill>
        </p:spPr>
        <p:txBody>
          <a:bodyPr/>
          <a:lstStyle/>
          <a:p>
            <a:r>
              <a:rPr lang="en-US" b="1" dirty="0">
                <a:solidFill>
                  <a:srgbClr val="FF0000"/>
                </a:solidFill>
              </a:rPr>
              <a:t>WAREHOUSE APP v 1.0</a:t>
            </a:r>
            <a:endParaRPr lang="uk-UA" b="1" dirty="0">
              <a:solidFill>
                <a:srgbClr val="FF0000"/>
              </a:solidFill>
            </a:endParaRPr>
          </a:p>
        </p:txBody>
      </p:sp>
      <p:sp>
        <p:nvSpPr>
          <p:cNvPr id="3" name="Підзаголовок 2">
            <a:extLst>
              <a:ext uri="{FF2B5EF4-FFF2-40B4-BE49-F238E27FC236}">
                <a16:creationId xmlns:a16="http://schemas.microsoft.com/office/drawing/2014/main" id="{057ABB0C-5263-BEF1-49EC-D46F300A564D}"/>
              </a:ext>
            </a:extLst>
          </p:cNvPr>
          <p:cNvSpPr>
            <a:spLocks noGrp="1"/>
          </p:cNvSpPr>
          <p:nvPr>
            <p:ph type="subTitle" idx="1"/>
          </p:nvPr>
        </p:nvSpPr>
        <p:spPr>
          <a:xfrm>
            <a:off x="419686" y="6144065"/>
            <a:ext cx="11352628" cy="559190"/>
          </a:xfrm>
          <a:solidFill>
            <a:srgbClr val="FFFFFF">
              <a:alpha val="40000"/>
            </a:srgbClr>
          </a:solidFill>
        </p:spPr>
        <p:txBody>
          <a:bodyPr/>
          <a:lstStyle/>
          <a:p>
            <a:r>
              <a:rPr lang="en-US" dirty="0"/>
              <a:t>Author: Marko Haiduk AKA avg9999. 2026, all rights reserved</a:t>
            </a:r>
            <a:endParaRPr lang="uk-UA" dirty="0"/>
          </a:p>
        </p:txBody>
      </p:sp>
    </p:spTree>
    <p:extLst>
      <p:ext uri="{BB962C8B-B14F-4D97-AF65-F5344CB8AC3E}">
        <p14:creationId xmlns:p14="http://schemas.microsoft.com/office/powerpoint/2010/main" val="250364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6B066-80D4-8AEB-9E37-55B5B2029A0C}"/>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5ABEC776-4CF7-193E-B27F-31C288B05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A962BE28-BE57-0699-07A3-9272BA396D8F}"/>
              </a:ext>
            </a:extLst>
          </p:cNvPr>
          <p:cNvSpPr>
            <a:spLocks noGrp="1"/>
          </p:cNvSpPr>
          <p:nvPr>
            <p:ph type="ctrTitle"/>
          </p:nvPr>
        </p:nvSpPr>
        <p:spPr>
          <a:xfrm>
            <a:off x="264827" y="154745"/>
            <a:ext cx="2343462" cy="714685"/>
          </a:xfrm>
          <a:solidFill>
            <a:srgbClr val="FFFFFF">
              <a:alpha val="50196"/>
            </a:srgbClr>
          </a:solidFill>
        </p:spPr>
        <p:txBody>
          <a:bodyPr>
            <a:normAutofit/>
          </a:bodyPr>
          <a:lstStyle/>
          <a:p>
            <a:r>
              <a:rPr lang="en-US" sz="3600" b="1" dirty="0">
                <a:solidFill>
                  <a:srgbClr val="FF0000"/>
                </a:solidFill>
              </a:rPr>
              <a:t>Navigation</a:t>
            </a:r>
            <a:endParaRPr lang="uk-UA" sz="3600" b="1" dirty="0">
              <a:solidFill>
                <a:srgbClr val="FF0000"/>
              </a:solidFill>
            </a:endParaRPr>
          </a:p>
        </p:txBody>
      </p:sp>
      <p:sp>
        <p:nvSpPr>
          <p:cNvPr id="3" name="Підзаголовок 2">
            <a:extLst>
              <a:ext uri="{FF2B5EF4-FFF2-40B4-BE49-F238E27FC236}">
                <a16:creationId xmlns:a16="http://schemas.microsoft.com/office/drawing/2014/main" id="{E92A2CB4-8F46-44AD-232B-AB7FF5C8AAA2}"/>
              </a:ext>
            </a:extLst>
          </p:cNvPr>
          <p:cNvSpPr>
            <a:spLocks noGrp="1"/>
          </p:cNvSpPr>
          <p:nvPr>
            <p:ph type="subTitle" idx="1"/>
          </p:nvPr>
        </p:nvSpPr>
        <p:spPr>
          <a:xfrm>
            <a:off x="264827" y="6144065"/>
            <a:ext cx="11507487" cy="559190"/>
          </a:xfrm>
          <a:solidFill>
            <a:srgbClr val="FFFFFF">
              <a:alpha val="40000"/>
            </a:srgbClr>
          </a:solidFill>
        </p:spPr>
        <p:txBody>
          <a:bodyPr/>
          <a:lstStyle/>
          <a:p>
            <a:r>
              <a:rPr lang="en-US" dirty="0"/>
              <a:t>Author: Marko Haiduk AKA avg9999. 2026, all rights reserved</a:t>
            </a:r>
            <a:endParaRPr lang="uk-UA" dirty="0"/>
          </a:p>
        </p:txBody>
      </p:sp>
      <p:sp>
        <p:nvSpPr>
          <p:cNvPr id="8" name="Місце для вмісту 7">
            <a:extLst>
              <a:ext uri="{FF2B5EF4-FFF2-40B4-BE49-F238E27FC236}">
                <a16:creationId xmlns:a16="http://schemas.microsoft.com/office/drawing/2014/main" id="{F34B4B13-7622-570A-0702-5637A79C0AAE}"/>
              </a:ext>
            </a:extLst>
          </p:cNvPr>
          <p:cNvSpPr txBox="1">
            <a:spLocks/>
          </p:cNvSpPr>
          <p:nvPr/>
        </p:nvSpPr>
        <p:spPr>
          <a:xfrm>
            <a:off x="264827" y="1026192"/>
            <a:ext cx="11507486" cy="4963128"/>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200" dirty="0">
                <a:hlinkClick r:id="rId3" action="ppaction://hlinksldjump">
                  <a:extLst>
                    <a:ext uri="{A12FA001-AC4F-418D-AE19-62706E023703}">
                      <ahyp:hlinkClr xmlns:ahyp="http://schemas.microsoft.com/office/drawing/2018/hyperlinkcolor" val="tx"/>
                    </a:ext>
                  </a:extLst>
                </a:hlinkClick>
              </a:rPr>
              <a:t>What is this, main purpose, key motivation to create it and the app`s main concept</a:t>
            </a:r>
            <a:endParaRPr lang="en-US" sz="2200" dirty="0"/>
          </a:p>
          <a:p>
            <a:pPr marL="342900" indent="-342900" algn="l">
              <a:buFont typeface="Arial" panose="020B0604020202020204" pitchFamily="34" charset="0"/>
              <a:buChar char="•"/>
            </a:pPr>
            <a:r>
              <a:rPr lang="en-US" sz="2200" dirty="0">
                <a:hlinkClick r:id="rId4" action="ppaction://hlinksldjump">
                  <a:extLst>
                    <a:ext uri="{A12FA001-AC4F-418D-AE19-62706E023703}">
                      <ahyp:hlinkClr xmlns:ahyp="http://schemas.microsoft.com/office/drawing/2018/hyperlinkcolor" val="tx"/>
                    </a:ext>
                  </a:extLst>
                </a:hlinkClick>
              </a:rPr>
              <a:t>How does it work?</a:t>
            </a:r>
            <a:endParaRPr lang="en-US" sz="2200" dirty="0"/>
          </a:p>
          <a:p>
            <a:pPr marL="342900" indent="-342900" algn="l">
              <a:buFont typeface="Arial" panose="020B0604020202020204" pitchFamily="34" charset="0"/>
              <a:buChar char="•"/>
            </a:pPr>
            <a:r>
              <a:rPr lang="en-US" sz="2200" dirty="0">
                <a:hlinkClick r:id="rId5" action="ppaction://hlinksldjump">
                  <a:extLst>
                    <a:ext uri="{A12FA001-AC4F-418D-AE19-62706E023703}">
                      <ahyp:hlinkClr xmlns:ahyp="http://schemas.microsoft.com/office/drawing/2018/hyperlinkcolor" val="tx"/>
                    </a:ext>
                  </a:extLst>
                </a:hlinkClick>
              </a:rPr>
              <a:t>Types of logistics operations</a:t>
            </a:r>
            <a:endParaRPr lang="en-US" sz="2200" dirty="0"/>
          </a:p>
          <a:p>
            <a:pPr marL="342900" indent="-342900" algn="l">
              <a:buFont typeface="Arial" panose="020B0604020202020204" pitchFamily="34" charset="0"/>
              <a:buChar char="•"/>
            </a:pPr>
            <a:r>
              <a:rPr lang="en-US" sz="2200" dirty="0">
                <a:hlinkClick r:id="rId6" action="ppaction://hlinksldjump">
                  <a:extLst>
                    <a:ext uri="{A12FA001-AC4F-418D-AE19-62706E023703}">
                      <ahyp:hlinkClr xmlns:ahyp="http://schemas.microsoft.com/office/drawing/2018/hyperlinkcolor" val="tx"/>
                    </a:ext>
                  </a:extLst>
                </a:hlinkClick>
              </a:rPr>
              <a:t>Schema of the application</a:t>
            </a:r>
            <a:endParaRPr lang="en-US" sz="2200" dirty="0"/>
          </a:p>
          <a:p>
            <a:pPr marL="342900" indent="-342900" algn="l">
              <a:buFont typeface="Arial" panose="020B0604020202020204" pitchFamily="34" charset="0"/>
              <a:buChar char="•"/>
            </a:pPr>
            <a:r>
              <a:rPr lang="en-US" sz="2200" dirty="0">
                <a:hlinkClick r:id="rId7" action="ppaction://hlinksldjump">
                  <a:extLst>
                    <a:ext uri="{A12FA001-AC4F-418D-AE19-62706E023703}">
                      <ahyp:hlinkClr xmlns:ahyp="http://schemas.microsoft.com/office/drawing/2018/hyperlinkcolor" val="tx"/>
                    </a:ext>
                  </a:extLst>
                </a:hlinkClick>
              </a:rPr>
              <a:t>Chapter 0. Log in</a:t>
            </a:r>
            <a:endParaRPr lang="en-US" sz="2200" dirty="0"/>
          </a:p>
          <a:p>
            <a:pPr marL="342900" indent="-342900" algn="l">
              <a:buFont typeface="Arial" panose="020B0604020202020204" pitchFamily="34" charset="0"/>
              <a:buChar char="•"/>
            </a:pPr>
            <a:r>
              <a:rPr lang="en-US" sz="2200" dirty="0">
                <a:hlinkClick r:id="rId8" action="ppaction://hlinksldjump">
                  <a:extLst>
                    <a:ext uri="{A12FA001-AC4F-418D-AE19-62706E023703}">
                      <ahyp:hlinkClr xmlns:ahyp="http://schemas.microsoft.com/office/drawing/2018/hyperlinkcolor" val="tx"/>
                    </a:ext>
                  </a:extLst>
                </a:hlinkClick>
              </a:rPr>
              <a:t>Chapter 1. Logistics</a:t>
            </a:r>
            <a:endParaRPr lang="en-US" sz="2200" dirty="0"/>
          </a:p>
          <a:p>
            <a:pPr marL="342900" indent="-342900" algn="l">
              <a:buFont typeface="Arial" panose="020B0604020202020204" pitchFamily="34" charset="0"/>
              <a:buChar char="•"/>
            </a:pPr>
            <a:r>
              <a:rPr lang="en-US" sz="2200" dirty="0">
                <a:hlinkClick r:id="rId9" action="ppaction://hlinksldjump">
                  <a:extLst>
                    <a:ext uri="{A12FA001-AC4F-418D-AE19-62706E023703}">
                      <ahyp:hlinkClr xmlns:ahyp="http://schemas.microsoft.com/office/drawing/2018/hyperlinkcolor" val="tx"/>
                    </a:ext>
                  </a:extLst>
                </a:hlinkClick>
              </a:rPr>
              <a:t>Chapter 2. Inventory</a:t>
            </a:r>
          </a:p>
          <a:p>
            <a:pPr marL="342900" indent="-342900" algn="l">
              <a:buFont typeface="Arial" panose="020B0604020202020204" pitchFamily="34" charset="0"/>
              <a:buChar char="•"/>
            </a:pPr>
            <a:r>
              <a:rPr lang="en-US" sz="2200" dirty="0">
                <a:hlinkClick r:id="rId10" action="ppaction://hlinksldjump">
                  <a:extLst>
                    <a:ext uri="{A12FA001-AC4F-418D-AE19-62706E023703}">
                      <ahyp:hlinkClr xmlns:ahyp="http://schemas.microsoft.com/office/drawing/2018/hyperlinkcolor" val="tx"/>
                    </a:ext>
                  </a:extLst>
                </a:hlinkClick>
              </a:rPr>
              <a:t>Chapter 3. Goods registry</a:t>
            </a:r>
          </a:p>
          <a:p>
            <a:pPr marL="342900" indent="-342900" algn="l">
              <a:buFont typeface="Arial" panose="020B0604020202020204" pitchFamily="34" charset="0"/>
              <a:buChar char="•"/>
            </a:pPr>
            <a:r>
              <a:rPr lang="en-US" sz="2200" dirty="0">
                <a:hlinkClick r:id="rId11" action="ppaction://hlinksldjump">
                  <a:extLst>
                    <a:ext uri="{A12FA001-AC4F-418D-AE19-62706E023703}">
                      <ahyp:hlinkClr xmlns:ahyp="http://schemas.microsoft.com/office/drawing/2018/hyperlinkcolor" val="tx"/>
                    </a:ext>
                  </a:extLst>
                </a:hlinkClick>
              </a:rPr>
              <a:t>Chapter 4. Personnel</a:t>
            </a:r>
            <a:endParaRPr lang="en-US" sz="2200" dirty="0">
              <a:hlinkClick r:id="rId10" action="ppaction://hlinksldjump">
                <a:extLst>
                  <a:ext uri="{A12FA001-AC4F-418D-AE19-62706E023703}">
                    <ahyp:hlinkClr xmlns:ahyp="http://schemas.microsoft.com/office/drawing/2018/hyperlinkcolor" val="tx"/>
                  </a:ext>
                </a:extLst>
              </a:hlinkClick>
            </a:endParaRPr>
          </a:p>
          <a:p>
            <a:pPr marL="342900" indent="-342900" algn="l">
              <a:buFont typeface="Arial" panose="020B0604020202020204" pitchFamily="34" charset="0"/>
              <a:buChar char="•"/>
            </a:pPr>
            <a:r>
              <a:rPr lang="en-US" sz="2200" dirty="0">
                <a:hlinkClick r:id="rId12" action="ppaction://hlinksldjump">
                  <a:extLst>
                    <a:ext uri="{A12FA001-AC4F-418D-AE19-62706E023703}">
                      <ahyp:hlinkClr xmlns:ahyp="http://schemas.microsoft.com/office/drawing/2018/hyperlinkcolor" val="tx"/>
                    </a:ext>
                  </a:extLst>
                </a:hlinkClick>
              </a:rPr>
              <a:t>Chapter 5. My account</a:t>
            </a:r>
            <a:endParaRPr lang="en-US" sz="2200" dirty="0"/>
          </a:p>
          <a:p>
            <a:pPr marL="342900" indent="-342900" algn="l">
              <a:buFont typeface="Arial" panose="020B0604020202020204" pitchFamily="34" charset="0"/>
              <a:buChar char="•"/>
            </a:pPr>
            <a:r>
              <a:rPr lang="en-US" sz="2200" dirty="0">
                <a:hlinkClick r:id="rId13" action="ppaction://hlinksldjump">
                  <a:extLst>
                    <a:ext uri="{A12FA001-AC4F-418D-AE19-62706E023703}">
                      <ahyp:hlinkClr xmlns:ahyp="http://schemas.microsoft.com/office/drawing/2018/hyperlinkcolor" val="tx"/>
                    </a:ext>
                  </a:extLst>
                </a:hlinkClick>
              </a:rPr>
              <a:t>Chapter 6. Change password</a:t>
            </a:r>
            <a:endParaRPr lang="en-US" sz="2200" dirty="0"/>
          </a:p>
          <a:p>
            <a:pPr marL="342900"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2116178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AC81E-D379-2B83-0B09-995691E738BA}"/>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EFC4A5BF-0040-AC99-FAE6-A29E56A8FE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olidFill>
        </p:spPr>
      </p:pic>
      <p:sp>
        <p:nvSpPr>
          <p:cNvPr id="8" name="Місце для вмісту 7">
            <a:extLst>
              <a:ext uri="{FF2B5EF4-FFF2-40B4-BE49-F238E27FC236}">
                <a16:creationId xmlns:a16="http://schemas.microsoft.com/office/drawing/2014/main" id="{C086720B-2597-A39E-5817-EE19B3D2B626}"/>
              </a:ext>
            </a:extLst>
          </p:cNvPr>
          <p:cNvSpPr>
            <a:spLocks noGrp="1"/>
          </p:cNvSpPr>
          <p:nvPr>
            <p:ph idx="1"/>
          </p:nvPr>
        </p:nvSpPr>
        <p:spPr>
          <a:xfrm>
            <a:off x="838200" y="1467654"/>
            <a:ext cx="10515600" cy="4963128"/>
          </a:xfrm>
          <a:solidFill>
            <a:srgbClr val="FFFFFF">
              <a:alpha val="40000"/>
            </a:srgbClr>
          </a:solidFill>
        </p:spPr>
        <p:txBody>
          <a:bodyPr>
            <a:normAutofit lnSpcReduction="10000"/>
          </a:bodyPr>
          <a:lstStyle/>
          <a:p>
            <a:r>
              <a:rPr lang="en-US" dirty="0"/>
              <a:t>The application for warehouse logistics and inventory operations performing.</a:t>
            </a:r>
          </a:p>
          <a:p>
            <a:r>
              <a:rPr lang="en-US" dirty="0"/>
              <a:t>Suitable for small warehouses (up to 10-15 personnel).</a:t>
            </a:r>
          </a:p>
          <a:p>
            <a:r>
              <a:rPr lang="en-US" dirty="0"/>
              <a:t>The key motivation was to create a quick and user-friendly platform which, with further updates, will be able to compete with professional logistics apps (such as ERP), and to let each employee immediately update goods logistics from his own device.</a:t>
            </a:r>
          </a:p>
          <a:p>
            <a:r>
              <a:rPr lang="en-US" b="1" dirty="0"/>
              <a:t>The main concept implemented for the app functionality, is coding all the calculation operations and permission/restriction functions and triggers directly in </a:t>
            </a:r>
            <a:r>
              <a:rPr lang="en-US" b="1" dirty="0">
                <a:solidFill>
                  <a:srgbClr val="FF0000"/>
                </a:solidFill>
              </a:rPr>
              <a:t>SQL database, which is the main storage of all the app`s data. </a:t>
            </a:r>
            <a:r>
              <a:rPr lang="en-US" b="1" dirty="0"/>
              <a:t>It unloads the vast amount of code off the Backend models, controllers and routes.</a:t>
            </a:r>
            <a:endParaRPr lang="en-US" b="1" dirty="0">
              <a:solidFill>
                <a:srgbClr val="FF0000"/>
              </a:solidFill>
            </a:endParaRPr>
          </a:p>
          <a:p>
            <a:endParaRPr lang="en-US" dirty="0"/>
          </a:p>
          <a:p>
            <a:pPr marL="0" indent="0">
              <a:buNone/>
            </a:pPr>
            <a:endParaRPr lang="uk-UA" dirty="0"/>
          </a:p>
        </p:txBody>
      </p:sp>
      <p:sp>
        <p:nvSpPr>
          <p:cNvPr id="2" name="Заголовок 1">
            <a:extLst>
              <a:ext uri="{FF2B5EF4-FFF2-40B4-BE49-F238E27FC236}">
                <a16:creationId xmlns:a16="http://schemas.microsoft.com/office/drawing/2014/main" id="{772314A0-30D4-4317-5E05-E41381B82AAC}"/>
              </a:ext>
            </a:extLst>
          </p:cNvPr>
          <p:cNvSpPr txBox="1">
            <a:spLocks/>
          </p:cNvSpPr>
          <p:nvPr/>
        </p:nvSpPr>
        <p:spPr>
          <a:xfrm>
            <a:off x="838200" y="225083"/>
            <a:ext cx="9829800" cy="1109042"/>
          </a:xfrm>
          <a:prstGeom prst="rect">
            <a:avLst/>
          </a:prstGeom>
          <a:solidFill>
            <a:srgbClr val="FFFFFF">
              <a:alpha val="40000"/>
            </a:srgbClr>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t>What is this, main purpose, key motivation to create it and the app`s main concept.</a:t>
            </a:r>
            <a:endParaRPr lang="uk-UA" sz="4000" b="1" dirty="0"/>
          </a:p>
        </p:txBody>
      </p:sp>
    </p:spTree>
    <p:extLst>
      <p:ext uri="{BB962C8B-B14F-4D97-AF65-F5344CB8AC3E}">
        <p14:creationId xmlns:p14="http://schemas.microsoft.com/office/powerpoint/2010/main" val="3067212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5CF4031B-666F-D3E7-E6D6-C5481A3479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3E7F6454-D92E-C78E-10C2-F73067CCB146}"/>
              </a:ext>
            </a:extLst>
          </p:cNvPr>
          <p:cNvSpPr>
            <a:spLocks noGrp="1"/>
          </p:cNvSpPr>
          <p:nvPr>
            <p:ph type="ctrTitle"/>
          </p:nvPr>
        </p:nvSpPr>
        <p:spPr>
          <a:xfrm>
            <a:off x="1524000" y="225083"/>
            <a:ext cx="9144000" cy="749813"/>
          </a:xfrm>
          <a:solidFill>
            <a:srgbClr val="FFFFFF">
              <a:alpha val="40000"/>
            </a:srgbClr>
          </a:solidFill>
        </p:spPr>
        <p:txBody>
          <a:bodyPr>
            <a:normAutofit/>
          </a:bodyPr>
          <a:lstStyle/>
          <a:p>
            <a:r>
              <a:rPr lang="en-US" sz="4000" b="1" dirty="0"/>
              <a:t>How does it work?</a:t>
            </a:r>
            <a:endParaRPr lang="uk-UA" sz="4000" b="1" dirty="0"/>
          </a:p>
        </p:txBody>
      </p:sp>
      <p:sp>
        <p:nvSpPr>
          <p:cNvPr id="3" name="Підзаголовок 2">
            <a:extLst>
              <a:ext uri="{FF2B5EF4-FFF2-40B4-BE49-F238E27FC236}">
                <a16:creationId xmlns:a16="http://schemas.microsoft.com/office/drawing/2014/main" id="{C62733FF-5389-9F44-70FD-276FCA67B137}"/>
              </a:ext>
            </a:extLst>
          </p:cNvPr>
          <p:cNvSpPr>
            <a:spLocks noGrp="1"/>
          </p:cNvSpPr>
          <p:nvPr>
            <p:ph type="subTitle" idx="1"/>
          </p:nvPr>
        </p:nvSpPr>
        <p:spPr>
          <a:xfrm>
            <a:off x="1524000" y="1199979"/>
            <a:ext cx="9144000" cy="5432938"/>
          </a:xfrm>
          <a:solidFill>
            <a:srgbClr val="FFFFFF">
              <a:alpha val="40000"/>
            </a:srgbClr>
          </a:solidFill>
        </p:spPr>
        <p:txBody>
          <a:bodyPr/>
          <a:lstStyle/>
          <a:p>
            <a:pPr algn="l"/>
            <a:r>
              <a:rPr lang="en-US" dirty="0"/>
              <a:t>The app is multi-user and permits to each warehouse employee to log in to his personal account. The initial login credentials and employee data are created by a manager, then it remains possible to adjust personal password.</a:t>
            </a:r>
          </a:p>
          <a:p>
            <a:pPr algn="l"/>
            <a:r>
              <a:rPr lang="en-US" dirty="0"/>
              <a:t>The employees are divided into three classes:</a:t>
            </a:r>
          </a:p>
          <a:p>
            <a:pPr algn="l"/>
            <a:r>
              <a:rPr lang="en-US" dirty="0"/>
              <a:t> - Manager: has full access to all types of logistics operations, goods registry items adding and updating, personnel info editing.</a:t>
            </a:r>
          </a:p>
          <a:p>
            <a:pPr algn="l"/>
            <a:r>
              <a:rPr lang="en-US" dirty="0"/>
              <a:t> - Receiver: has full access to all types of logistics operations, without permission to edit goods data and employees info.</a:t>
            </a:r>
          </a:p>
          <a:p>
            <a:pPr algn="l"/>
            <a:r>
              <a:rPr lang="en-US" dirty="0"/>
              <a:t> - General worker: restricted only to perform goods departure/utilization operation (with no access to receive goods from outside supplier), also restricted to edit goods/employees info as well as a receiver.</a:t>
            </a:r>
          </a:p>
          <a:p>
            <a:pPr algn="l"/>
            <a:r>
              <a:rPr lang="en-US" b="1" dirty="0">
                <a:solidFill>
                  <a:srgbClr val="FF0000"/>
                </a:solidFill>
              </a:rPr>
              <a:t>The authorization is performed by governmental ID number and password of each employee.</a:t>
            </a:r>
          </a:p>
          <a:p>
            <a:pPr algn="l"/>
            <a:endParaRPr lang="uk-UA" dirty="0"/>
          </a:p>
        </p:txBody>
      </p:sp>
    </p:spTree>
    <p:extLst>
      <p:ext uri="{BB962C8B-B14F-4D97-AF65-F5344CB8AC3E}">
        <p14:creationId xmlns:p14="http://schemas.microsoft.com/office/powerpoint/2010/main" val="1898833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FFAA6-9968-A39C-AB82-1B8284FF7FE8}"/>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069A630F-E09F-6F92-826E-81D3D83B0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39CED031-B9C5-8A00-B576-F140A7DEC93B}"/>
              </a:ext>
            </a:extLst>
          </p:cNvPr>
          <p:cNvSpPr>
            <a:spLocks noGrp="1"/>
          </p:cNvSpPr>
          <p:nvPr>
            <p:ph type="ctrTitle"/>
          </p:nvPr>
        </p:nvSpPr>
        <p:spPr>
          <a:xfrm>
            <a:off x="1524000" y="337625"/>
            <a:ext cx="9144000" cy="707611"/>
          </a:xfrm>
          <a:solidFill>
            <a:srgbClr val="FFFFFF">
              <a:alpha val="40000"/>
            </a:srgbClr>
          </a:solidFill>
        </p:spPr>
        <p:txBody>
          <a:bodyPr>
            <a:normAutofit/>
          </a:bodyPr>
          <a:lstStyle/>
          <a:p>
            <a:r>
              <a:rPr lang="en-US" sz="4000" b="1" dirty="0"/>
              <a:t>Types of logistic operations:</a:t>
            </a:r>
            <a:endParaRPr lang="uk-UA" sz="4000" b="1" dirty="0"/>
          </a:p>
        </p:txBody>
      </p:sp>
      <p:sp>
        <p:nvSpPr>
          <p:cNvPr id="3" name="Підзаголовок 2">
            <a:extLst>
              <a:ext uri="{FF2B5EF4-FFF2-40B4-BE49-F238E27FC236}">
                <a16:creationId xmlns:a16="http://schemas.microsoft.com/office/drawing/2014/main" id="{179502B7-B905-ABCD-80D7-FE8713D181D9}"/>
              </a:ext>
            </a:extLst>
          </p:cNvPr>
          <p:cNvSpPr>
            <a:spLocks noGrp="1"/>
          </p:cNvSpPr>
          <p:nvPr>
            <p:ph type="subTitle" idx="1"/>
          </p:nvPr>
        </p:nvSpPr>
        <p:spPr>
          <a:xfrm>
            <a:off x="314179" y="1270318"/>
            <a:ext cx="3539363" cy="5250057"/>
          </a:xfrm>
          <a:solidFill>
            <a:srgbClr val="FFFFFF">
              <a:alpha val="40000"/>
            </a:srgbClr>
          </a:solidFill>
        </p:spPr>
        <p:txBody>
          <a:bodyPr>
            <a:normAutofit/>
          </a:bodyPr>
          <a:lstStyle/>
          <a:p>
            <a:pPr algn="l"/>
            <a:r>
              <a:rPr lang="en-US" dirty="0"/>
              <a:t>Group 10 – goods receiving:</a:t>
            </a:r>
          </a:p>
          <a:p>
            <a:pPr marL="342900" indent="-342900" algn="l">
              <a:buFont typeface="Arial" panose="020B0604020202020204" pitchFamily="34" charset="0"/>
              <a:buChar char="•"/>
            </a:pPr>
            <a:r>
              <a:rPr lang="en-US" dirty="0"/>
              <a:t>10 – received from the outside supplier;</a:t>
            </a:r>
          </a:p>
          <a:p>
            <a:pPr marL="342900" indent="-342900" algn="l">
              <a:buFont typeface="Arial" panose="020B0604020202020204" pitchFamily="34" charset="0"/>
              <a:buChar char="•"/>
            </a:pPr>
            <a:r>
              <a:rPr lang="en-US" dirty="0"/>
              <a:t>11 – refused receiving by incompatibility;</a:t>
            </a:r>
          </a:p>
          <a:p>
            <a:pPr marL="342900" indent="-342900" algn="l">
              <a:buFont typeface="Arial" panose="020B0604020202020204" pitchFamily="34" charset="0"/>
              <a:buChar char="•"/>
            </a:pPr>
            <a:r>
              <a:rPr lang="en-US" dirty="0"/>
              <a:t>12 – refused receiving by expiry;</a:t>
            </a:r>
          </a:p>
          <a:p>
            <a:pPr marL="342900" indent="-342900" algn="l">
              <a:buFont typeface="Arial" panose="020B0604020202020204" pitchFamily="34" charset="0"/>
              <a:buChar char="•"/>
            </a:pPr>
            <a:r>
              <a:rPr lang="en-US" dirty="0"/>
              <a:t>13 – refused receiving by damage;</a:t>
            </a:r>
          </a:p>
          <a:p>
            <a:pPr marL="342900" indent="-342900" algn="l">
              <a:buFont typeface="Arial" panose="020B0604020202020204" pitchFamily="34" charset="0"/>
              <a:buChar char="•"/>
            </a:pPr>
            <a:r>
              <a:rPr lang="en-US" dirty="0"/>
              <a:t>14 – refusing receiving by hazard</a:t>
            </a:r>
            <a:endParaRPr lang="uk-UA" dirty="0"/>
          </a:p>
        </p:txBody>
      </p:sp>
      <p:sp>
        <p:nvSpPr>
          <p:cNvPr id="9" name="Підзаголовок 2">
            <a:extLst>
              <a:ext uri="{FF2B5EF4-FFF2-40B4-BE49-F238E27FC236}">
                <a16:creationId xmlns:a16="http://schemas.microsoft.com/office/drawing/2014/main" id="{277B18D3-7A46-CCE5-4D9B-3E02198D68CD}"/>
              </a:ext>
            </a:extLst>
          </p:cNvPr>
          <p:cNvSpPr txBox="1">
            <a:spLocks/>
          </p:cNvSpPr>
          <p:nvPr/>
        </p:nvSpPr>
        <p:spPr>
          <a:xfrm>
            <a:off x="4554918" y="1270318"/>
            <a:ext cx="3304568" cy="5250057"/>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Group 20 – goods departure:</a:t>
            </a:r>
          </a:p>
          <a:p>
            <a:pPr marL="342900" indent="-342900" algn="l">
              <a:buFont typeface="Arial" panose="020B0604020202020204" pitchFamily="34" charset="0"/>
              <a:buChar char="•"/>
            </a:pPr>
            <a:r>
              <a:rPr lang="en-US" dirty="0"/>
              <a:t>20 – departed;</a:t>
            </a:r>
          </a:p>
          <a:p>
            <a:pPr marL="342900" indent="-342900" algn="l">
              <a:buFont typeface="Arial" panose="020B0604020202020204" pitchFamily="34" charset="0"/>
              <a:buChar char="•"/>
            </a:pPr>
            <a:r>
              <a:rPr lang="en-US" dirty="0"/>
              <a:t>21 – departure returned by incompatibility;</a:t>
            </a:r>
          </a:p>
          <a:p>
            <a:pPr marL="342900" indent="-342900" algn="l">
              <a:buFont typeface="Arial" panose="020B0604020202020204" pitchFamily="34" charset="0"/>
              <a:buChar char="•"/>
            </a:pPr>
            <a:r>
              <a:rPr lang="en-US" dirty="0"/>
              <a:t>22 – departure returned by expiry;</a:t>
            </a:r>
          </a:p>
          <a:p>
            <a:pPr marL="342900" indent="-342900" algn="l">
              <a:buFont typeface="Arial" panose="020B0604020202020204" pitchFamily="34" charset="0"/>
              <a:buChar char="•"/>
            </a:pPr>
            <a:r>
              <a:rPr lang="en-US" dirty="0"/>
              <a:t>23 – departure returned by damage;</a:t>
            </a:r>
          </a:p>
          <a:p>
            <a:pPr marL="342900" indent="-342900" algn="l">
              <a:buFont typeface="Arial" panose="020B0604020202020204" pitchFamily="34" charset="0"/>
              <a:buChar char="•"/>
            </a:pPr>
            <a:r>
              <a:rPr lang="en-US" dirty="0"/>
              <a:t>24 – departure returned by hazard</a:t>
            </a:r>
            <a:endParaRPr lang="uk-UA" dirty="0"/>
          </a:p>
        </p:txBody>
      </p:sp>
      <p:sp>
        <p:nvSpPr>
          <p:cNvPr id="10" name="Підзаголовок 2">
            <a:extLst>
              <a:ext uri="{FF2B5EF4-FFF2-40B4-BE49-F238E27FC236}">
                <a16:creationId xmlns:a16="http://schemas.microsoft.com/office/drawing/2014/main" id="{9125C0F0-617A-8743-0FBB-B15764333D44}"/>
              </a:ext>
            </a:extLst>
          </p:cNvPr>
          <p:cNvSpPr txBox="1">
            <a:spLocks/>
          </p:cNvSpPr>
          <p:nvPr/>
        </p:nvSpPr>
        <p:spPr>
          <a:xfrm>
            <a:off x="8560862" y="1270318"/>
            <a:ext cx="3316958" cy="5250057"/>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Group 10 – goods utilization:</a:t>
            </a:r>
          </a:p>
          <a:p>
            <a:pPr marL="342900" indent="-342900" algn="l">
              <a:buFont typeface="Arial" panose="020B0604020202020204" pitchFamily="34" charset="0"/>
              <a:buChar char="•"/>
            </a:pPr>
            <a:r>
              <a:rPr lang="en-US" dirty="0"/>
              <a:t>32 – utilized by expiry;</a:t>
            </a:r>
          </a:p>
          <a:p>
            <a:pPr marL="342900" indent="-342900" algn="l">
              <a:buFont typeface="Arial" panose="020B0604020202020204" pitchFamily="34" charset="0"/>
              <a:buChar char="•"/>
            </a:pPr>
            <a:r>
              <a:rPr lang="en-US" dirty="0"/>
              <a:t>33 – utilized by  damage;</a:t>
            </a:r>
          </a:p>
          <a:p>
            <a:pPr marL="342900" indent="-342900" algn="l">
              <a:buFont typeface="Arial" panose="020B0604020202020204" pitchFamily="34" charset="0"/>
              <a:buChar char="•"/>
            </a:pPr>
            <a:r>
              <a:rPr lang="en-US" dirty="0"/>
              <a:t>34 – utilized by hazard;</a:t>
            </a:r>
          </a:p>
          <a:p>
            <a:pPr marL="342900" indent="-342900" algn="l">
              <a:buFont typeface="Arial" panose="020B0604020202020204" pitchFamily="34" charset="0"/>
              <a:buChar char="•"/>
            </a:pPr>
            <a:r>
              <a:rPr lang="en-US" dirty="0"/>
              <a:t>35 – utilized by theft (report mandatory!);</a:t>
            </a:r>
          </a:p>
          <a:p>
            <a:pPr marL="342900" indent="-342900" algn="l">
              <a:buFont typeface="Arial" panose="020B0604020202020204" pitchFamily="34" charset="0"/>
              <a:buChar char="•"/>
            </a:pPr>
            <a:r>
              <a:rPr lang="en-US" dirty="0"/>
              <a:t>36 – utilized by other reason (report mandatory!)</a:t>
            </a:r>
            <a:endParaRPr lang="uk-UA" dirty="0"/>
          </a:p>
        </p:txBody>
      </p:sp>
    </p:spTree>
    <p:extLst>
      <p:ext uri="{BB962C8B-B14F-4D97-AF65-F5344CB8AC3E}">
        <p14:creationId xmlns:p14="http://schemas.microsoft.com/office/powerpoint/2010/main" val="2099680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22103-7B29-F3A3-1ADD-E5A3776C613D}"/>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7E7EAD7D-E166-74D2-B5DF-0A2221BC7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659D86F3-ADE7-F859-8EA4-0D81495EA850}"/>
              </a:ext>
            </a:extLst>
          </p:cNvPr>
          <p:cNvSpPr>
            <a:spLocks noGrp="1"/>
          </p:cNvSpPr>
          <p:nvPr>
            <p:ph type="ctrTitle"/>
          </p:nvPr>
        </p:nvSpPr>
        <p:spPr>
          <a:xfrm>
            <a:off x="323557" y="225083"/>
            <a:ext cx="11732455" cy="749813"/>
          </a:xfrm>
          <a:solidFill>
            <a:srgbClr val="FFFFFF">
              <a:alpha val="40000"/>
            </a:srgbClr>
          </a:solidFill>
        </p:spPr>
        <p:txBody>
          <a:bodyPr>
            <a:normAutofit/>
          </a:bodyPr>
          <a:lstStyle/>
          <a:p>
            <a:r>
              <a:rPr lang="en-US" sz="4000" b="1" dirty="0"/>
              <a:t>Schema of the application:</a:t>
            </a:r>
            <a:endParaRPr lang="uk-UA" sz="4000" b="1" dirty="0"/>
          </a:p>
        </p:txBody>
      </p:sp>
      <p:sp>
        <p:nvSpPr>
          <p:cNvPr id="3" name="Підзаголовок 2">
            <a:extLst>
              <a:ext uri="{FF2B5EF4-FFF2-40B4-BE49-F238E27FC236}">
                <a16:creationId xmlns:a16="http://schemas.microsoft.com/office/drawing/2014/main" id="{D261C3FE-3EB7-4A37-4A4F-EBBAF3AE320C}"/>
              </a:ext>
            </a:extLst>
          </p:cNvPr>
          <p:cNvSpPr>
            <a:spLocks noGrp="1"/>
          </p:cNvSpPr>
          <p:nvPr>
            <p:ph type="subTitle" idx="1"/>
          </p:nvPr>
        </p:nvSpPr>
        <p:spPr>
          <a:xfrm>
            <a:off x="323556" y="1073369"/>
            <a:ext cx="11732455" cy="5559547"/>
          </a:xfrm>
          <a:solidFill>
            <a:srgbClr val="FFFFFF">
              <a:alpha val="40000"/>
            </a:srgbClr>
          </a:solidFill>
        </p:spPr>
        <p:txBody>
          <a:bodyPr>
            <a:normAutofit fontScale="77500" lnSpcReduction="20000"/>
          </a:bodyPr>
          <a:lstStyle/>
          <a:p>
            <a:pPr algn="l"/>
            <a:r>
              <a:rPr lang="en-US" b="1" dirty="0"/>
              <a:t>0.     </a:t>
            </a:r>
            <a:r>
              <a:rPr lang="en-US" b="1" dirty="0">
                <a:hlinkClick r:id="rId3" action="ppaction://hlinksldjump">
                  <a:extLst>
                    <a:ext uri="{A12FA001-AC4F-418D-AE19-62706E023703}">
                      <ahyp:hlinkClr xmlns:ahyp="http://schemas.microsoft.com/office/drawing/2018/hyperlinkcolor" val="tx"/>
                    </a:ext>
                  </a:extLst>
                </a:hlinkClick>
              </a:rPr>
              <a:t>LOGGING IN</a:t>
            </a:r>
            <a:r>
              <a:rPr lang="en-US" b="1" dirty="0"/>
              <a:t> PAGE</a:t>
            </a:r>
            <a:endParaRPr lang="en-US" b="1" dirty="0">
              <a:hlinkClick r:id="rId4" action="ppaction://hlinksldjump">
                <a:extLst>
                  <a:ext uri="{A12FA001-AC4F-418D-AE19-62706E023703}">
                    <ahyp:hlinkClr xmlns:ahyp="http://schemas.microsoft.com/office/drawing/2018/hyperlinkcolor" val="tx"/>
                  </a:ext>
                </a:extLst>
              </a:hlinkClick>
            </a:endParaRPr>
          </a:p>
          <a:p>
            <a:pPr marL="457200" indent="-457200" algn="l">
              <a:buAutoNum type="arabicPeriod"/>
            </a:pPr>
            <a:r>
              <a:rPr lang="en-US" b="1" dirty="0">
                <a:hlinkClick r:id="rId4" action="ppaction://hlinksldjump">
                  <a:extLst>
                    <a:ext uri="{A12FA001-AC4F-418D-AE19-62706E023703}">
                      <ahyp:hlinkClr xmlns:ahyp="http://schemas.microsoft.com/office/drawing/2018/hyperlinkcolor" val="tx"/>
                    </a:ext>
                  </a:extLst>
                </a:hlinkClick>
              </a:rPr>
              <a:t>LOGISTICS</a:t>
            </a:r>
            <a:endParaRPr lang="en-US" b="1" dirty="0"/>
          </a:p>
          <a:p>
            <a:pPr algn="l"/>
            <a:r>
              <a:rPr lang="en-US" dirty="0"/>
              <a:t> - view logistics operations (view all or choose by code, name, operation code, goods type (foods/general (e.g. non-food)), ID of a responsible for the logistic operation, operation date);</a:t>
            </a:r>
          </a:p>
          <a:p>
            <a:pPr algn="l"/>
            <a:r>
              <a:rPr lang="en-US" dirty="0"/>
              <a:t> - log new logistic operation;</a:t>
            </a:r>
          </a:p>
          <a:p>
            <a:pPr algn="l"/>
            <a:r>
              <a:rPr lang="en-US" b="1" dirty="0"/>
              <a:t>2.     </a:t>
            </a:r>
            <a:r>
              <a:rPr lang="en-US" b="1" dirty="0">
                <a:hlinkClick r:id="rId5" action="ppaction://hlinksldjump">
                  <a:extLst>
                    <a:ext uri="{A12FA001-AC4F-418D-AE19-62706E023703}">
                      <ahyp:hlinkClr xmlns:ahyp="http://schemas.microsoft.com/office/drawing/2018/hyperlinkcolor" val="tx"/>
                    </a:ext>
                  </a:extLst>
                </a:hlinkClick>
              </a:rPr>
              <a:t>FOODS INVENORY / GENERAL INVENTORY</a:t>
            </a:r>
            <a:endParaRPr lang="en-US" b="1" dirty="0"/>
          </a:p>
          <a:p>
            <a:pPr algn="l"/>
            <a:r>
              <a:rPr lang="en-US" dirty="0"/>
              <a:t> - check the amount of goods in foods or general inventory; possible to view all or choose by code, name or measuring unit;</a:t>
            </a:r>
          </a:p>
          <a:p>
            <a:pPr algn="l"/>
            <a:r>
              <a:rPr lang="en-US" b="1" dirty="0"/>
              <a:t>3.     </a:t>
            </a:r>
            <a:r>
              <a:rPr lang="en-US" b="1" dirty="0">
                <a:hlinkClick r:id="rId6" action="ppaction://hlinksldjump">
                  <a:extLst>
                    <a:ext uri="{A12FA001-AC4F-418D-AE19-62706E023703}">
                      <ahyp:hlinkClr xmlns:ahyp="http://schemas.microsoft.com/office/drawing/2018/hyperlinkcolor" val="tx"/>
                    </a:ext>
                  </a:extLst>
                </a:hlinkClick>
              </a:rPr>
              <a:t>GOODS REGISTRY</a:t>
            </a:r>
            <a:endParaRPr lang="en-US" b="1" dirty="0"/>
          </a:p>
          <a:p>
            <a:pPr algn="l"/>
            <a:r>
              <a:rPr lang="en-US" dirty="0"/>
              <a:t> - check all existing goods in goods registry (to get item`s code, name, type (foods/general), or measuring unit). A manager is also authorized to add/update items to goods registry.</a:t>
            </a:r>
          </a:p>
          <a:p>
            <a:pPr algn="l"/>
            <a:r>
              <a:rPr lang="en-US" b="1" dirty="0"/>
              <a:t>4.     </a:t>
            </a:r>
            <a:r>
              <a:rPr lang="en-US" b="1" dirty="0">
                <a:hlinkClick r:id="rId7" action="ppaction://hlinksldjump">
                  <a:extLst>
                    <a:ext uri="{A12FA001-AC4F-418D-AE19-62706E023703}">
                      <ahyp:hlinkClr xmlns:ahyp="http://schemas.microsoft.com/office/drawing/2018/hyperlinkcolor" val="tx"/>
                    </a:ext>
                  </a:extLst>
                </a:hlinkClick>
              </a:rPr>
              <a:t>PERSONNEL</a:t>
            </a:r>
            <a:r>
              <a:rPr lang="en-US" b="1" dirty="0"/>
              <a:t> (available for manager only!)</a:t>
            </a:r>
          </a:p>
          <a:p>
            <a:pPr algn="l"/>
            <a:r>
              <a:rPr lang="en-US" dirty="0"/>
              <a:t> - add, dismiss or return back dismissed employees. The employees, either active or dismissed, remain in the database to have actual info of all staff performed logistic operations;</a:t>
            </a:r>
          </a:p>
          <a:p>
            <a:pPr algn="l"/>
            <a:r>
              <a:rPr lang="en-US" b="1" dirty="0"/>
              <a:t>5.     </a:t>
            </a:r>
            <a:r>
              <a:rPr lang="en-US" b="1" dirty="0">
                <a:hlinkClick r:id="rId8" action="ppaction://hlinksldjump">
                  <a:extLst>
                    <a:ext uri="{A12FA001-AC4F-418D-AE19-62706E023703}">
                      <ahyp:hlinkClr xmlns:ahyp="http://schemas.microsoft.com/office/drawing/2018/hyperlinkcolor" val="tx"/>
                    </a:ext>
                  </a:extLst>
                </a:hlinkClick>
              </a:rPr>
              <a:t>MY ACCOUNT </a:t>
            </a:r>
            <a:r>
              <a:rPr lang="en-US" b="1" dirty="0"/>
              <a:t>(available for manager only!)</a:t>
            </a:r>
          </a:p>
          <a:p>
            <a:pPr algn="l"/>
            <a:r>
              <a:rPr lang="en-US" dirty="0"/>
              <a:t> - change the own credentials: ID, name, date of birth, password.</a:t>
            </a:r>
          </a:p>
          <a:p>
            <a:pPr algn="l"/>
            <a:r>
              <a:rPr lang="en-US" b="1" dirty="0"/>
              <a:t>6.     </a:t>
            </a:r>
            <a:r>
              <a:rPr lang="en-US" b="1" dirty="0">
                <a:hlinkClick r:id="rId9" action="ppaction://hlinksldjump">
                  <a:extLst>
                    <a:ext uri="{A12FA001-AC4F-418D-AE19-62706E023703}">
                      <ahyp:hlinkClr xmlns:ahyp="http://schemas.microsoft.com/office/drawing/2018/hyperlinkcolor" val="tx"/>
                    </a:ext>
                  </a:extLst>
                </a:hlinkClick>
              </a:rPr>
              <a:t>CHANGE PASSWORD </a:t>
            </a:r>
            <a:r>
              <a:rPr lang="en-US" b="1" dirty="0"/>
              <a:t>(available for receiver / general worker)</a:t>
            </a:r>
          </a:p>
          <a:p>
            <a:pPr algn="l"/>
            <a:r>
              <a:rPr lang="en-US" dirty="0"/>
              <a:t> - change the own account`s password. The rest of employee data is changed by request to a manager.</a:t>
            </a:r>
            <a:endParaRPr lang="uk-UA" dirty="0"/>
          </a:p>
        </p:txBody>
      </p:sp>
    </p:spTree>
    <p:extLst>
      <p:ext uri="{BB962C8B-B14F-4D97-AF65-F5344CB8AC3E}">
        <p14:creationId xmlns:p14="http://schemas.microsoft.com/office/powerpoint/2010/main" val="973186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C9A8-D15A-629C-7EA4-059138B41647}"/>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559687A6-6ABD-DB22-99CC-34A0179A0D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D38423D1-E922-2D5B-F109-400BFEA1A570}"/>
              </a:ext>
            </a:extLst>
          </p:cNvPr>
          <p:cNvSpPr>
            <a:spLocks noGrp="1"/>
          </p:cNvSpPr>
          <p:nvPr>
            <p:ph type="ctrTitle"/>
          </p:nvPr>
        </p:nvSpPr>
        <p:spPr>
          <a:xfrm>
            <a:off x="323557" y="225083"/>
            <a:ext cx="11732455" cy="749813"/>
          </a:xfrm>
          <a:solidFill>
            <a:srgbClr val="FFFFFF">
              <a:alpha val="40000"/>
            </a:srgbClr>
          </a:solidFill>
        </p:spPr>
        <p:txBody>
          <a:bodyPr>
            <a:normAutofit/>
          </a:bodyPr>
          <a:lstStyle/>
          <a:p>
            <a:r>
              <a:rPr lang="en-US" sz="4000" b="1" dirty="0"/>
              <a:t>CHAPTER 0. LOG IN</a:t>
            </a:r>
            <a:endParaRPr lang="uk-UA" sz="4000" b="1" dirty="0"/>
          </a:p>
        </p:txBody>
      </p:sp>
      <p:sp>
        <p:nvSpPr>
          <p:cNvPr id="3" name="Підзаголовок 2">
            <a:extLst>
              <a:ext uri="{FF2B5EF4-FFF2-40B4-BE49-F238E27FC236}">
                <a16:creationId xmlns:a16="http://schemas.microsoft.com/office/drawing/2014/main" id="{90D58249-CBD1-593D-1636-AFFA985BFCFE}"/>
              </a:ext>
            </a:extLst>
          </p:cNvPr>
          <p:cNvSpPr>
            <a:spLocks noGrp="1"/>
          </p:cNvSpPr>
          <p:nvPr>
            <p:ph type="subTitle" idx="1"/>
          </p:nvPr>
        </p:nvSpPr>
        <p:spPr>
          <a:xfrm>
            <a:off x="323557" y="5658021"/>
            <a:ext cx="11732455" cy="820152"/>
          </a:xfrm>
          <a:solidFill>
            <a:srgbClr val="FFFFFF">
              <a:alpha val="40000"/>
            </a:srgbClr>
          </a:solidFill>
        </p:spPr>
        <p:txBody>
          <a:bodyPr>
            <a:normAutofit fontScale="92500"/>
          </a:bodyPr>
          <a:lstStyle/>
          <a:p>
            <a:pPr algn="l"/>
            <a:r>
              <a:rPr lang="en-US" dirty="0"/>
              <a:t>Logging in is pretty simple: enter your </a:t>
            </a:r>
            <a:r>
              <a:rPr lang="en-US" dirty="0" err="1"/>
              <a:t>gov_id</a:t>
            </a:r>
            <a:r>
              <a:rPr lang="en-US" dirty="0"/>
              <a:t> and password since they are created by a manager and press Log In button. After logging in you can change your password (see chapter 5).</a:t>
            </a:r>
            <a:endParaRPr lang="uk-UA" dirty="0"/>
          </a:p>
        </p:txBody>
      </p:sp>
      <p:pic>
        <p:nvPicPr>
          <p:cNvPr id="6" name="Рисунок 5">
            <a:extLst>
              <a:ext uri="{FF2B5EF4-FFF2-40B4-BE49-F238E27FC236}">
                <a16:creationId xmlns:a16="http://schemas.microsoft.com/office/drawing/2014/main" id="{A6345BFC-8871-A434-BEEE-F5AD53E0D455}"/>
              </a:ext>
            </a:extLst>
          </p:cNvPr>
          <p:cNvPicPr>
            <a:picLocks noChangeAspect="1"/>
          </p:cNvPicPr>
          <p:nvPr/>
        </p:nvPicPr>
        <p:blipFill>
          <a:blip r:embed="rId3"/>
          <a:stretch>
            <a:fillRect/>
          </a:stretch>
        </p:blipFill>
        <p:spPr>
          <a:xfrm>
            <a:off x="520503" y="1199979"/>
            <a:ext cx="9904935" cy="4078215"/>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625335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E6217-6930-ECEB-FE5D-60D640D3A1F5}"/>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8BC4F6BE-E601-1430-EB5A-709A20AC54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6F334184-182C-EAC2-E29E-E468008DEAE8}"/>
              </a:ext>
            </a:extLst>
          </p:cNvPr>
          <p:cNvSpPr>
            <a:spLocks noGrp="1"/>
          </p:cNvSpPr>
          <p:nvPr>
            <p:ph type="ctrTitle"/>
          </p:nvPr>
        </p:nvSpPr>
        <p:spPr>
          <a:xfrm>
            <a:off x="323557" y="225083"/>
            <a:ext cx="11732455" cy="749813"/>
          </a:xfrm>
          <a:solidFill>
            <a:srgbClr val="FFFFFF">
              <a:alpha val="40000"/>
            </a:srgbClr>
          </a:solidFill>
        </p:spPr>
        <p:txBody>
          <a:bodyPr>
            <a:normAutofit/>
          </a:bodyPr>
          <a:lstStyle/>
          <a:p>
            <a:r>
              <a:rPr lang="en-US" sz="4000" b="1" dirty="0"/>
              <a:t>CHAPTER 1. LOGISTICS</a:t>
            </a:r>
            <a:endParaRPr lang="uk-UA" sz="4000" b="1" dirty="0"/>
          </a:p>
        </p:txBody>
      </p:sp>
      <p:sp>
        <p:nvSpPr>
          <p:cNvPr id="3" name="Підзаголовок 2">
            <a:extLst>
              <a:ext uri="{FF2B5EF4-FFF2-40B4-BE49-F238E27FC236}">
                <a16:creationId xmlns:a16="http://schemas.microsoft.com/office/drawing/2014/main" id="{9C908F0E-0D7A-76CE-DE8E-F3E415F4E81A}"/>
              </a:ext>
            </a:extLst>
          </p:cNvPr>
          <p:cNvSpPr>
            <a:spLocks noGrp="1"/>
          </p:cNvSpPr>
          <p:nvPr>
            <p:ph type="subTitle" idx="1"/>
          </p:nvPr>
        </p:nvSpPr>
        <p:spPr>
          <a:xfrm>
            <a:off x="323557" y="1519311"/>
            <a:ext cx="11732454" cy="2996417"/>
          </a:xfrm>
          <a:solidFill>
            <a:srgbClr val="FFFFFF">
              <a:alpha val="40000"/>
            </a:srgbClr>
          </a:solidFill>
        </p:spPr>
        <p:txBody>
          <a:bodyPr>
            <a:normAutofit/>
          </a:bodyPr>
          <a:lstStyle/>
          <a:p>
            <a:pPr algn="l"/>
            <a:r>
              <a:rPr lang="en-US" sz="3600" dirty="0"/>
              <a:t>There are three types of dashboards: </a:t>
            </a:r>
          </a:p>
          <a:p>
            <a:pPr algn="l"/>
            <a:r>
              <a:rPr lang="en-US" sz="3600" u="sng" dirty="0">
                <a:solidFill>
                  <a:srgbClr val="0563C1"/>
                </a:solidFill>
                <a:hlinkClick r:id="rId3" action="ppaction://hlinksldjump">
                  <a:extLst>
                    <a:ext uri="{A12FA001-AC4F-418D-AE19-62706E023703}">
                      <ahyp:hlinkClr xmlns:ahyp="http://schemas.microsoft.com/office/drawing/2018/hyperlinkcolor" val="tx"/>
                    </a:ext>
                  </a:extLst>
                </a:hlinkClick>
              </a:rPr>
              <a:t> - </a:t>
            </a:r>
            <a:r>
              <a:rPr lang="en-US" sz="3600" u="sng" dirty="0">
                <a:solidFill>
                  <a:srgbClr val="FF0000"/>
                </a:solidFill>
                <a:hlinkClick r:id="rId3" action="ppaction://hlinksldjump">
                  <a:extLst>
                    <a:ext uri="{A12FA001-AC4F-418D-AE19-62706E023703}">
                      <ahyp:hlinkClr xmlns:ahyp="http://schemas.microsoft.com/office/drawing/2018/hyperlinkcolor" val="tx"/>
                    </a:ext>
                  </a:extLst>
                </a:hlinkClick>
              </a:rPr>
              <a:t>manager dashboard</a:t>
            </a:r>
            <a:endParaRPr lang="en-US" sz="3600" dirty="0">
              <a:solidFill>
                <a:srgbClr val="FF0000"/>
              </a:solidFill>
            </a:endParaRPr>
          </a:p>
          <a:p>
            <a:pPr algn="l"/>
            <a:r>
              <a:rPr lang="en-US" sz="3600" u="sng" dirty="0">
                <a:solidFill>
                  <a:srgbClr val="FF0000"/>
                </a:solidFill>
                <a:hlinkClick r:id="rId4" action="ppaction://hlinksldjump">
                  <a:extLst>
                    <a:ext uri="{A12FA001-AC4F-418D-AE19-62706E023703}">
                      <ahyp:hlinkClr xmlns:ahyp="http://schemas.microsoft.com/office/drawing/2018/hyperlinkcolor" val="tx"/>
                    </a:ext>
                  </a:extLst>
                </a:hlinkClick>
              </a:rPr>
              <a:t> - receiver dashboard</a:t>
            </a:r>
            <a:endParaRPr lang="en-US" sz="3600" u="sng" dirty="0">
              <a:solidFill>
                <a:srgbClr val="FF0000"/>
              </a:solidFill>
            </a:endParaRPr>
          </a:p>
          <a:p>
            <a:pPr algn="l"/>
            <a:r>
              <a:rPr lang="en-US" sz="3600" u="sng" dirty="0">
                <a:solidFill>
                  <a:srgbClr val="FF0000"/>
                </a:solidFill>
                <a:hlinkClick r:id="rId5" action="ppaction://hlinksldjump">
                  <a:extLst>
                    <a:ext uri="{A12FA001-AC4F-418D-AE19-62706E023703}">
                      <ahyp:hlinkClr xmlns:ahyp="http://schemas.microsoft.com/office/drawing/2018/hyperlinkcolor" val="tx"/>
                    </a:ext>
                  </a:extLst>
                </a:hlinkClick>
              </a:rPr>
              <a:t> - general worker dashboard.</a:t>
            </a:r>
            <a:endParaRPr lang="uk-UA" sz="3600" u="sng" dirty="0">
              <a:solidFill>
                <a:srgbClr val="FF0000"/>
              </a:solidFill>
            </a:endParaRPr>
          </a:p>
        </p:txBody>
      </p:sp>
    </p:spTree>
    <p:extLst>
      <p:ext uri="{BB962C8B-B14F-4D97-AF65-F5344CB8AC3E}">
        <p14:creationId xmlns:p14="http://schemas.microsoft.com/office/powerpoint/2010/main" val="2943335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3E4A2873-E4D6-8816-537E-CBD5FB0AD54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11BACB-FA6E-257E-2898-4C9DFD107CEE}"/>
              </a:ext>
            </a:extLst>
          </p:cNvPr>
          <p:cNvSpPr>
            <a:spLocks noGrp="1"/>
          </p:cNvSpPr>
          <p:nvPr>
            <p:ph type="ctrTitle"/>
          </p:nvPr>
        </p:nvSpPr>
        <p:spPr>
          <a:xfrm>
            <a:off x="229772" y="539646"/>
            <a:ext cx="11732455" cy="749813"/>
          </a:xfrm>
          <a:solidFill>
            <a:srgbClr val="FFFFFF">
              <a:alpha val="40000"/>
            </a:srgbClr>
          </a:solidFill>
        </p:spPr>
        <p:txBody>
          <a:bodyPr>
            <a:normAutofit/>
          </a:bodyPr>
          <a:lstStyle/>
          <a:p>
            <a:r>
              <a:rPr lang="en-US" sz="4000" b="1" dirty="0"/>
              <a:t>Manager dashboard</a:t>
            </a:r>
            <a:endParaRPr lang="uk-UA" sz="4000" b="1" dirty="0"/>
          </a:p>
        </p:txBody>
      </p:sp>
      <p:pic>
        <p:nvPicPr>
          <p:cNvPr id="10" name="Рисунок 9">
            <a:extLst>
              <a:ext uri="{FF2B5EF4-FFF2-40B4-BE49-F238E27FC236}">
                <a16:creationId xmlns:a16="http://schemas.microsoft.com/office/drawing/2014/main" id="{3D41E60C-7C6F-627C-9829-D30E185E776A}"/>
              </a:ext>
            </a:extLst>
          </p:cNvPr>
          <p:cNvPicPr>
            <a:picLocks noChangeAspect="1"/>
          </p:cNvPicPr>
          <p:nvPr/>
        </p:nvPicPr>
        <p:blipFill>
          <a:blip r:embed="rId2"/>
          <a:stretch>
            <a:fillRect/>
          </a:stretch>
        </p:blipFill>
        <p:spPr>
          <a:xfrm>
            <a:off x="0" y="1704312"/>
            <a:ext cx="12192000" cy="5153688"/>
          </a:xfrm>
          <a:prstGeom prst="rect">
            <a:avLst/>
          </a:prstGeom>
        </p:spPr>
      </p:pic>
    </p:spTree>
    <p:extLst>
      <p:ext uri="{BB962C8B-B14F-4D97-AF65-F5344CB8AC3E}">
        <p14:creationId xmlns:p14="http://schemas.microsoft.com/office/powerpoint/2010/main" val="456949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4738933-41C8-0099-B6D3-7E601E0AC5A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1216EC-0AC5-2FB4-BB09-DBB395B85087}"/>
              </a:ext>
            </a:extLst>
          </p:cNvPr>
          <p:cNvSpPr>
            <a:spLocks noGrp="1"/>
          </p:cNvSpPr>
          <p:nvPr>
            <p:ph type="ctrTitle"/>
          </p:nvPr>
        </p:nvSpPr>
        <p:spPr>
          <a:xfrm>
            <a:off x="229772" y="539646"/>
            <a:ext cx="11732455" cy="749813"/>
          </a:xfrm>
          <a:solidFill>
            <a:srgbClr val="FFFFFF">
              <a:alpha val="40000"/>
            </a:srgbClr>
          </a:solidFill>
        </p:spPr>
        <p:txBody>
          <a:bodyPr>
            <a:normAutofit/>
          </a:bodyPr>
          <a:lstStyle/>
          <a:p>
            <a:r>
              <a:rPr lang="en-US" sz="4000" b="1" dirty="0"/>
              <a:t>Receiver dashboard</a:t>
            </a:r>
            <a:endParaRPr lang="uk-UA" sz="4000" b="1" dirty="0"/>
          </a:p>
        </p:txBody>
      </p:sp>
      <p:pic>
        <p:nvPicPr>
          <p:cNvPr id="4" name="Рисунок 3">
            <a:extLst>
              <a:ext uri="{FF2B5EF4-FFF2-40B4-BE49-F238E27FC236}">
                <a16:creationId xmlns:a16="http://schemas.microsoft.com/office/drawing/2014/main" id="{9625B007-9055-66C2-F004-BBBB7377C831}"/>
              </a:ext>
            </a:extLst>
          </p:cNvPr>
          <p:cNvPicPr>
            <a:picLocks noChangeAspect="1"/>
          </p:cNvPicPr>
          <p:nvPr/>
        </p:nvPicPr>
        <p:blipFill>
          <a:blip r:embed="rId2"/>
          <a:stretch>
            <a:fillRect/>
          </a:stretch>
        </p:blipFill>
        <p:spPr>
          <a:xfrm>
            <a:off x="-1" y="1865086"/>
            <a:ext cx="12192000" cy="4992914"/>
          </a:xfrm>
          <a:prstGeom prst="rect">
            <a:avLst/>
          </a:prstGeom>
        </p:spPr>
      </p:pic>
    </p:spTree>
    <p:extLst>
      <p:ext uri="{BB962C8B-B14F-4D97-AF65-F5344CB8AC3E}">
        <p14:creationId xmlns:p14="http://schemas.microsoft.com/office/powerpoint/2010/main" val="3803696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DD02C584-AE3A-D3C6-FD12-AC01EC4F2BF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269BB-75A4-EECE-154A-8E5F1C9F9F84}"/>
              </a:ext>
            </a:extLst>
          </p:cNvPr>
          <p:cNvSpPr>
            <a:spLocks noGrp="1"/>
          </p:cNvSpPr>
          <p:nvPr>
            <p:ph type="ctrTitle"/>
          </p:nvPr>
        </p:nvSpPr>
        <p:spPr>
          <a:xfrm>
            <a:off x="229772" y="539646"/>
            <a:ext cx="11732455" cy="749813"/>
          </a:xfrm>
          <a:solidFill>
            <a:srgbClr val="FFFFFF">
              <a:alpha val="40000"/>
            </a:srgbClr>
          </a:solidFill>
        </p:spPr>
        <p:txBody>
          <a:bodyPr>
            <a:normAutofit/>
          </a:bodyPr>
          <a:lstStyle/>
          <a:p>
            <a:r>
              <a:rPr lang="en-US" sz="4000" b="1" dirty="0"/>
              <a:t>General worker dashboard</a:t>
            </a:r>
            <a:endParaRPr lang="uk-UA" sz="4000" b="1" dirty="0"/>
          </a:p>
        </p:txBody>
      </p:sp>
      <p:pic>
        <p:nvPicPr>
          <p:cNvPr id="4" name="Рисунок 3">
            <a:extLst>
              <a:ext uri="{FF2B5EF4-FFF2-40B4-BE49-F238E27FC236}">
                <a16:creationId xmlns:a16="http://schemas.microsoft.com/office/drawing/2014/main" id="{E8B7DFE4-B567-4F28-21C2-BAAAE245066C}"/>
              </a:ext>
            </a:extLst>
          </p:cNvPr>
          <p:cNvPicPr>
            <a:picLocks noChangeAspect="1"/>
          </p:cNvPicPr>
          <p:nvPr/>
        </p:nvPicPr>
        <p:blipFill>
          <a:blip r:embed="rId2"/>
          <a:stretch>
            <a:fillRect/>
          </a:stretch>
        </p:blipFill>
        <p:spPr>
          <a:xfrm>
            <a:off x="-1" y="1918677"/>
            <a:ext cx="12192000" cy="4939323"/>
          </a:xfrm>
          <a:prstGeom prst="rect">
            <a:avLst/>
          </a:prstGeom>
        </p:spPr>
      </p:pic>
    </p:spTree>
    <p:extLst>
      <p:ext uri="{BB962C8B-B14F-4D97-AF65-F5344CB8AC3E}">
        <p14:creationId xmlns:p14="http://schemas.microsoft.com/office/powerpoint/2010/main" val="3541751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33AC07EA-9357-3D00-1BDA-68F9F7F089D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C6D4A0-DEDF-163A-C317-943BB995733B}"/>
              </a:ext>
            </a:extLst>
          </p:cNvPr>
          <p:cNvSpPr>
            <a:spLocks noGrp="1"/>
          </p:cNvSpPr>
          <p:nvPr>
            <p:ph type="ctrTitle"/>
          </p:nvPr>
        </p:nvSpPr>
        <p:spPr>
          <a:xfrm>
            <a:off x="443616" y="149901"/>
            <a:ext cx="11304763" cy="749813"/>
          </a:xfrm>
          <a:solidFill>
            <a:srgbClr val="FFFFFF">
              <a:alpha val="40000"/>
            </a:srgbClr>
          </a:solidFill>
        </p:spPr>
        <p:txBody>
          <a:bodyPr>
            <a:normAutofit/>
          </a:bodyPr>
          <a:lstStyle/>
          <a:p>
            <a:r>
              <a:rPr lang="en-US" sz="4000" b="1" dirty="0"/>
              <a:t>New logistic operation</a:t>
            </a:r>
            <a:endParaRPr lang="uk-UA" sz="4000" b="1" dirty="0"/>
          </a:p>
        </p:txBody>
      </p:sp>
      <p:pic>
        <p:nvPicPr>
          <p:cNvPr id="5" name="Рисунок 4">
            <a:extLst>
              <a:ext uri="{FF2B5EF4-FFF2-40B4-BE49-F238E27FC236}">
                <a16:creationId xmlns:a16="http://schemas.microsoft.com/office/drawing/2014/main" id="{1EB7959B-758A-E74E-41C4-AD67EACAD685}"/>
              </a:ext>
            </a:extLst>
          </p:cNvPr>
          <p:cNvPicPr>
            <a:picLocks noChangeAspect="1"/>
          </p:cNvPicPr>
          <p:nvPr/>
        </p:nvPicPr>
        <p:blipFill>
          <a:blip r:embed="rId2"/>
          <a:stretch>
            <a:fillRect/>
          </a:stretch>
        </p:blipFill>
        <p:spPr>
          <a:xfrm>
            <a:off x="443617" y="899714"/>
            <a:ext cx="11304762" cy="5971429"/>
          </a:xfrm>
          <a:prstGeom prst="rect">
            <a:avLst/>
          </a:prstGeom>
        </p:spPr>
      </p:pic>
    </p:spTree>
    <p:extLst>
      <p:ext uri="{BB962C8B-B14F-4D97-AF65-F5344CB8AC3E}">
        <p14:creationId xmlns:p14="http://schemas.microsoft.com/office/powerpoint/2010/main" val="2304142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6A000B93-6335-E82A-3A6B-0435B7A26D3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D3AB52-9A5E-224B-CFE7-17F323AADFE3}"/>
              </a:ext>
            </a:extLst>
          </p:cNvPr>
          <p:cNvSpPr>
            <a:spLocks noGrp="1"/>
          </p:cNvSpPr>
          <p:nvPr>
            <p:ph type="ctrTitle"/>
          </p:nvPr>
        </p:nvSpPr>
        <p:spPr>
          <a:xfrm>
            <a:off x="6844421" y="254832"/>
            <a:ext cx="5347579" cy="749813"/>
          </a:xfrm>
          <a:solidFill>
            <a:srgbClr val="FFFFFF">
              <a:alpha val="40000"/>
            </a:srgbClr>
          </a:solidFill>
        </p:spPr>
        <p:txBody>
          <a:bodyPr>
            <a:normAutofit/>
          </a:bodyPr>
          <a:lstStyle/>
          <a:p>
            <a:r>
              <a:rPr lang="en-US" sz="4000" b="1" dirty="0"/>
              <a:t>Logistic operation types</a:t>
            </a:r>
            <a:endParaRPr lang="uk-UA" sz="4000" b="1" dirty="0"/>
          </a:p>
        </p:txBody>
      </p:sp>
      <p:pic>
        <p:nvPicPr>
          <p:cNvPr id="4" name="Рисунок 3">
            <a:extLst>
              <a:ext uri="{FF2B5EF4-FFF2-40B4-BE49-F238E27FC236}">
                <a16:creationId xmlns:a16="http://schemas.microsoft.com/office/drawing/2014/main" id="{D5D8C422-61A6-96CF-93DA-76EF1A2FCFB5}"/>
              </a:ext>
            </a:extLst>
          </p:cNvPr>
          <p:cNvPicPr>
            <a:picLocks noChangeAspect="1"/>
          </p:cNvPicPr>
          <p:nvPr/>
        </p:nvPicPr>
        <p:blipFill>
          <a:blip r:embed="rId2"/>
          <a:stretch>
            <a:fillRect/>
          </a:stretch>
        </p:blipFill>
        <p:spPr>
          <a:xfrm>
            <a:off x="0" y="149901"/>
            <a:ext cx="6685998" cy="6708099"/>
          </a:xfrm>
          <a:prstGeom prst="rect">
            <a:avLst/>
          </a:prstGeom>
        </p:spPr>
      </p:pic>
      <p:sp>
        <p:nvSpPr>
          <p:cNvPr id="8" name="Підзаголовок 2">
            <a:extLst>
              <a:ext uri="{FF2B5EF4-FFF2-40B4-BE49-F238E27FC236}">
                <a16:creationId xmlns:a16="http://schemas.microsoft.com/office/drawing/2014/main" id="{5AC65AA6-6255-C085-B3C3-6014F7BECF49}"/>
              </a:ext>
            </a:extLst>
          </p:cNvPr>
          <p:cNvSpPr>
            <a:spLocks noGrp="1"/>
          </p:cNvSpPr>
          <p:nvPr>
            <p:ph type="subTitle" idx="1"/>
          </p:nvPr>
        </p:nvSpPr>
        <p:spPr>
          <a:xfrm>
            <a:off x="6985415" y="1519311"/>
            <a:ext cx="5070595" cy="5083857"/>
          </a:xfrm>
          <a:solidFill>
            <a:srgbClr val="FFFFFF">
              <a:alpha val="40000"/>
            </a:srgbClr>
          </a:solidFill>
        </p:spPr>
        <p:txBody>
          <a:bodyPr>
            <a:normAutofit/>
          </a:bodyPr>
          <a:lstStyle/>
          <a:p>
            <a:pPr algn="l"/>
            <a:r>
              <a:rPr lang="en-US" sz="3600" dirty="0"/>
              <a:t>10-14: receiving</a:t>
            </a:r>
          </a:p>
          <a:p>
            <a:pPr algn="l"/>
            <a:r>
              <a:rPr lang="en-US" sz="3600" dirty="0"/>
              <a:t>20-24: departure</a:t>
            </a:r>
          </a:p>
          <a:p>
            <a:pPr algn="l"/>
            <a:r>
              <a:rPr lang="en-US" sz="3600" dirty="0"/>
              <a:t>32-36: utilizing</a:t>
            </a:r>
          </a:p>
          <a:p>
            <a:pPr algn="l"/>
            <a:endParaRPr lang="en-US" sz="3600" dirty="0"/>
          </a:p>
          <a:p>
            <a:pPr algn="l"/>
            <a:r>
              <a:rPr lang="en-US" sz="3600" dirty="0">
                <a:solidFill>
                  <a:srgbClr val="FF0000"/>
                </a:solidFill>
              </a:rPr>
              <a:t>IMPORTANT! Operations 10-14 are not available in Worker dashboard!</a:t>
            </a:r>
            <a:endParaRPr lang="uk-UA" sz="3600" dirty="0">
              <a:solidFill>
                <a:srgbClr val="FF0000"/>
              </a:solidFill>
            </a:endParaRPr>
          </a:p>
        </p:txBody>
      </p:sp>
    </p:spTree>
    <p:extLst>
      <p:ext uri="{BB962C8B-B14F-4D97-AF65-F5344CB8AC3E}">
        <p14:creationId xmlns:p14="http://schemas.microsoft.com/office/powerpoint/2010/main" val="1344833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72A3F6AD-CE06-2E0B-4203-88B30F4055D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B46EDD-6B81-EC58-06A2-5762322A535E}"/>
              </a:ext>
            </a:extLst>
          </p:cNvPr>
          <p:cNvSpPr>
            <a:spLocks noGrp="1"/>
          </p:cNvSpPr>
          <p:nvPr>
            <p:ph type="ctrTitle"/>
          </p:nvPr>
        </p:nvSpPr>
        <p:spPr>
          <a:xfrm>
            <a:off x="143813" y="149900"/>
            <a:ext cx="5012803" cy="749813"/>
          </a:xfrm>
          <a:solidFill>
            <a:srgbClr val="FFFFFF">
              <a:alpha val="40000"/>
            </a:srgbClr>
          </a:solidFill>
        </p:spPr>
        <p:txBody>
          <a:bodyPr>
            <a:normAutofit/>
          </a:bodyPr>
          <a:lstStyle/>
          <a:p>
            <a:r>
              <a:rPr lang="en-US" sz="4000" b="1" dirty="0"/>
              <a:t>CHAPTER 2. INVENTORY</a:t>
            </a:r>
            <a:endParaRPr lang="uk-UA" sz="4000" b="1" dirty="0"/>
          </a:p>
        </p:txBody>
      </p:sp>
      <p:pic>
        <p:nvPicPr>
          <p:cNvPr id="4" name="Рисунок 3">
            <a:extLst>
              <a:ext uri="{FF2B5EF4-FFF2-40B4-BE49-F238E27FC236}">
                <a16:creationId xmlns:a16="http://schemas.microsoft.com/office/drawing/2014/main" id="{8341ADE7-371F-FACE-15FF-A1A9D0B43D1E}"/>
              </a:ext>
            </a:extLst>
          </p:cNvPr>
          <p:cNvPicPr>
            <a:picLocks noChangeAspect="1"/>
          </p:cNvPicPr>
          <p:nvPr/>
        </p:nvPicPr>
        <p:blipFill>
          <a:blip r:embed="rId2"/>
          <a:stretch>
            <a:fillRect/>
          </a:stretch>
        </p:blipFill>
        <p:spPr>
          <a:xfrm>
            <a:off x="-3" y="1979390"/>
            <a:ext cx="12192000" cy="4878610"/>
          </a:xfrm>
          <a:prstGeom prst="rect">
            <a:avLst/>
          </a:prstGeom>
        </p:spPr>
      </p:pic>
      <p:sp>
        <p:nvSpPr>
          <p:cNvPr id="8" name="Заголовок 1">
            <a:extLst>
              <a:ext uri="{FF2B5EF4-FFF2-40B4-BE49-F238E27FC236}">
                <a16:creationId xmlns:a16="http://schemas.microsoft.com/office/drawing/2014/main" id="{F4B5925B-B0C1-F0EB-33A8-E2BB0FC026EC}"/>
              </a:ext>
            </a:extLst>
          </p:cNvPr>
          <p:cNvSpPr txBox="1">
            <a:spLocks/>
          </p:cNvSpPr>
          <p:nvPr/>
        </p:nvSpPr>
        <p:spPr>
          <a:xfrm>
            <a:off x="8139659" y="149900"/>
            <a:ext cx="3908528" cy="569929"/>
          </a:xfrm>
          <a:prstGeom prst="rect">
            <a:avLst/>
          </a:prstGeom>
          <a:solidFill>
            <a:srgbClr val="FFFFFF">
              <a:alpha val="40000"/>
            </a:srgb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t>2.1. Foods inventory</a:t>
            </a:r>
            <a:endParaRPr lang="uk-UA" sz="3200" b="1" dirty="0"/>
          </a:p>
        </p:txBody>
      </p:sp>
      <p:sp>
        <p:nvSpPr>
          <p:cNvPr id="9" name="Заголовок 1">
            <a:extLst>
              <a:ext uri="{FF2B5EF4-FFF2-40B4-BE49-F238E27FC236}">
                <a16:creationId xmlns:a16="http://schemas.microsoft.com/office/drawing/2014/main" id="{5D815403-7867-156A-3EB6-C01B25D07507}"/>
              </a:ext>
            </a:extLst>
          </p:cNvPr>
          <p:cNvSpPr txBox="1">
            <a:spLocks/>
          </p:cNvSpPr>
          <p:nvPr/>
        </p:nvSpPr>
        <p:spPr>
          <a:xfrm>
            <a:off x="143813" y="1049693"/>
            <a:ext cx="11904374" cy="749813"/>
          </a:xfrm>
          <a:prstGeom prst="rect">
            <a:avLst/>
          </a:prstGeom>
          <a:solidFill>
            <a:srgbClr val="FFFFFF">
              <a:alpha val="40000"/>
            </a:srgb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t>The inventory table is activated by “Search” button. There are Foods Inventory tab (displays foods available in the warehouse) and </a:t>
            </a:r>
            <a:r>
              <a:rPr lang="en-US" sz="2400" b="1" dirty="0">
                <a:hlinkClick r:id="rId3" action="ppaction://hlinksldjump"/>
              </a:rPr>
              <a:t>General Inventory</a:t>
            </a:r>
            <a:r>
              <a:rPr lang="en-US" sz="2400" b="1" dirty="0"/>
              <a:t> tab </a:t>
            </a:r>
            <a:endParaRPr lang="uk-UA" sz="2400" b="1" dirty="0"/>
          </a:p>
        </p:txBody>
      </p:sp>
    </p:spTree>
    <p:extLst>
      <p:ext uri="{BB962C8B-B14F-4D97-AF65-F5344CB8AC3E}">
        <p14:creationId xmlns:p14="http://schemas.microsoft.com/office/powerpoint/2010/main" val="2050220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AA3F3839-03F5-DB72-DCC3-426FE9146CF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DA39FA-0F7A-6207-A95D-945A90A13EF9}"/>
              </a:ext>
            </a:extLst>
          </p:cNvPr>
          <p:cNvSpPr>
            <a:spLocks noGrp="1"/>
          </p:cNvSpPr>
          <p:nvPr>
            <p:ph type="ctrTitle"/>
          </p:nvPr>
        </p:nvSpPr>
        <p:spPr>
          <a:xfrm>
            <a:off x="7090348" y="149901"/>
            <a:ext cx="4658031" cy="749813"/>
          </a:xfrm>
          <a:solidFill>
            <a:srgbClr val="FFFFFF">
              <a:alpha val="40000"/>
            </a:srgbClr>
          </a:solidFill>
        </p:spPr>
        <p:txBody>
          <a:bodyPr>
            <a:normAutofit/>
          </a:bodyPr>
          <a:lstStyle/>
          <a:p>
            <a:pPr algn="r"/>
            <a:r>
              <a:rPr lang="en-US" sz="4000" b="1" dirty="0"/>
              <a:t>2.2. General Inventory</a:t>
            </a:r>
            <a:endParaRPr lang="uk-UA" sz="4000" b="1" dirty="0"/>
          </a:p>
        </p:txBody>
      </p:sp>
      <p:pic>
        <p:nvPicPr>
          <p:cNvPr id="4" name="Рисунок 3">
            <a:extLst>
              <a:ext uri="{FF2B5EF4-FFF2-40B4-BE49-F238E27FC236}">
                <a16:creationId xmlns:a16="http://schemas.microsoft.com/office/drawing/2014/main" id="{9A92F720-2DC6-A487-C624-E143BFCEF80E}"/>
              </a:ext>
            </a:extLst>
          </p:cNvPr>
          <p:cNvPicPr>
            <a:picLocks noChangeAspect="1"/>
          </p:cNvPicPr>
          <p:nvPr/>
        </p:nvPicPr>
        <p:blipFill>
          <a:blip r:embed="rId2"/>
          <a:stretch>
            <a:fillRect/>
          </a:stretch>
        </p:blipFill>
        <p:spPr>
          <a:xfrm>
            <a:off x="0" y="1038063"/>
            <a:ext cx="12192000" cy="5819937"/>
          </a:xfrm>
          <a:prstGeom prst="rect">
            <a:avLst/>
          </a:prstGeom>
        </p:spPr>
      </p:pic>
    </p:spTree>
    <p:extLst>
      <p:ext uri="{BB962C8B-B14F-4D97-AF65-F5344CB8AC3E}">
        <p14:creationId xmlns:p14="http://schemas.microsoft.com/office/powerpoint/2010/main" val="24972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26913D66-0D6E-907E-B427-618A51533F8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82930C0-F4C9-D564-B24D-8518D1EFC736}"/>
              </a:ext>
            </a:extLst>
          </p:cNvPr>
          <p:cNvSpPr>
            <a:spLocks noGrp="1"/>
          </p:cNvSpPr>
          <p:nvPr>
            <p:ph type="ctrTitle"/>
          </p:nvPr>
        </p:nvSpPr>
        <p:spPr>
          <a:xfrm>
            <a:off x="0" y="149901"/>
            <a:ext cx="12192000" cy="749813"/>
          </a:xfrm>
          <a:solidFill>
            <a:srgbClr val="FFFFFF">
              <a:alpha val="40000"/>
            </a:srgbClr>
          </a:solidFill>
        </p:spPr>
        <p:txBody>
          <a:bodyPr>
            <a:normAutofit/>
          </a:bodyPr>
          <a:lstStyle/>
          <a:p>
            <a:r>
              <a:rPr lang="en-US" sz="4000" b="1" dirty="0"/>
              <a:t>CHAPTER 3. GOODS REGISTRY</a:t>
            </a:r>
            <a:endParaRPr lang="uk-UA" sz="4000" b="1" dirty="0"/>
          </a:p>
        </p:txBody>
      </p:sp>
      <p:pic>
        <p:nvPicPr>
          <p:cNvPr id="4" name="Рисунок 3">
            <a:extLst>
              <a:ext uri="{FF2B5EF4-FFF2-40B4-BE49-F238E27FC236}">
                <a16:creationId xmlns:a16="http://schemas.microsoft.com/office/drawing/2014/main" id="{3569DE67-D34D-3412-C40E-296BE6EB8141}"/>
              </a:ext>
            </a:extLst>
          </p:cNvPr>
          <p:cNvPicPr>
            <a:picLocks noChangeAspect="1"/>
          </p:cNvPicPr>
          <p:nvPr/>
        </p:nvPicPr>
        <p:blipFill>
          <a:blip r:embed="rId2"/>
          <a:stretch>
            <a:fillRect/>
          </a:stretch>
        </p:blipFill>
        <p:spPr>
          <a:xfrm>
            <a:off x="0" y="2263515"/>
            <a:ext cx="9624840" cy="4594485"/>
          </a:xfrm>
          <a:prstGeom prst="rect">
            <a:avLst/>
          </a:prstGeom>
        </p:spPr>
      </p:pic>
      <p:sp>
        <p:nvSpPr>
          <p:cNvPr id="6" name="Заголовок 1">
            <a:extLst>
              <a:ext uri="{FF2B5EF4-FFF2-40B4-BE49-F238E27FC236}">
                <a16:creationId xmlns:a16="http://schemas.microsoft.com/office/drawing/2014/main" id="{51E5FFC7-7E86-5D95-9A61-398A65264391}"/>
              </a:ext>
            </a:extLst>
          </p:cNvPr>
          <p:cNvSpPr txBox="1">
            <a:spLocks/>
          </p:cNvSpPr>
          <p:nvPr/>
        </p:nvSpPr>
        <p:spPr>
          <a:xfrm>
            <a:off x="0" y="899714"/>
            <a:ext cx="12192000" cy="1183919"/>
          </a:xfrm>
          <a:prstGeom prst="rect">
            <a:avLst/>
          </a:prstGeom>
          <a:solidFill>
            <a:srgbClr val="FFFFFF">
              <a:alpha val="40000"/>
            </a:srgbClr>
          </a:solidFill>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t>Contains all existing goods which are used in operations. The goods are defined by code, name, type (foods/general) and measuring unit, and can be sorted by these units. To add a new item click the button “</a:t>
            </a:r>
            <a:r>
              <a:rPr lang="en-US" sz="2400" b="1" dirty="0">
                <a:hlinkClick r:id="rId3" action="ppaction://hlinksldjump">
                  <a:extLst>
                    <a:ext uri="{A12FA001-AC4F-418D-AE19-62706E023703}">
                      <ahyp:hlinkClr xmlns:ahyp="http://schemas.microsoft.com/office/drawing/2018/hyperlinkcolor" val="tx"/>
                    </a:ext>
                  </a:extLst>
                </a:hlinkClick>
              </a:rPr>
              <a:t>Add New Item</a:t>
            </a:r>
            <a:r>
              <a:rPr lang="en-US" sz="2400" b="1" dirty="0"/>
              <a:t>”. Goods registry units can be added or updated only from the manager dashboard (e.g. “Add new item” and “</a:t>
            </a:r>
            <a:r>
              <a:rPr lang="en-US" sz="2400" b="1" dirty="0">
                <a:hlinkClick r:id="rId4" action="ppaction://hlinksldjump">
                  <a:extLst>
                    <a:ext uri="{A12FA001-AC4F-418D-AE19-62706E023703}">
                      <ahyp:hlinkClr xmlns:ahyp="http://schemas.microsoft.com/office/drawing/2018/hyperlinkcolor" val="tx"/>
                    </a:ext>
                  </a:extLst>
                </a:hlinkClick>
              </a:rPr>
              <a:t>Edit</a:t>
            </a:r>
            <a:r>
              <a:rPr lang="en-US" sz="2400" b="1" dirty="0"/>
              <a:t>” button are missing in Receiver / Worker dashboards)</a:t>
            </a:r>
            <a:endParaRPr lang="uk-UA" sz="2400" b="1" dirty="0"/>
          </a:p>
        </p:txBody>
      </p:sp>
    </p:spTree>
    <p:extLst>
      <p:ext uri="{BB962C8B-B14F-4D97-AF65-F5344CB8AC3E}">
        <p14:creationId xmlns:p14="http://schemas.microsoft.com/office/powerpoint/2010/main" val="3047755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D4071E6A-3A9D-8AF0-E912-61E67BA261E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8EB5FD-553D-D34D-5F3E-1334D84D56B6}"/>
              </a:ext>
            </a:extLst>
          </p:cNvPr>
          <p:cNvSpPr>
            <a:spLocks noGrp="1"/>
          </p:cNvSpPr>
          <p:nvPr>
            <p:ph type="ctrTitle"/>
          </p:nvPr>
        </p:nvSpPr>
        <p:spPr>
          <a:xfrm>
            <a:off x="443616" y="149901"/>
            <a:ext cx="11304763" cy="749813"/>
          </a:xfrm>
          <a:solidFill>
            <a:srgbClr val="FFFFFF">
              <a:alpha val="40000"/>
            </a:srgbClr>
          </a:solidFill>
        </p:spPr>
        <p:txBody>
          <a:bodyPr>
            <a:normAutofit/>
          </a:bodyPr>
          <a:lstStyle/>
          <a:p>
            <a:pPr algn="r"/>
            <a:r>
              <a:rPr lang="en-US" sz="4000" b="1" dirty="0"/>
              <a:t> Goods registry – add new item</a:t>
            </a:r>
            <a:endParaRPr lang="uk-UA" sz="4000" b="1" dirty="0"/>
          </a:p>
        </p:txBody>
      </p:sp>
      <p:pic>
        <p:nvPicPr>
          <p:cNvPr id="4" name="Рисунок 3">
            <a:extLst>
              <a:ext uri="{FF2B5EF4-FFF2-40B4-BE49-F238E27FC236}">
                <a16:creationId xmlns:a16="http://schemas.microsoft.com/office/drawing/2014/main" id="{E829A647-C672-842C-BF02-26ECE9C3BA7D}"/>
              </a:ext>
            </a:extLst>
          </p:cNvPr>
          <p:cNvPicPr>
            <a:picLocks noChangeAspect="1"/>
          </p:cNvPicPr>
          <p:nvPr/>
        </p:nvPicPr>
        <p:blipFill>
          <a:blip r:embed="rId2"/>
          <a:stretch>
            <a:fillRect/>
          </a:stretch>
        </p:blipFill>
        <p:spPr>
          <a:xfrm>
            <a:off x="0" y="1818797"/>
            <a:ext cx="10508105" cy="5039203"/>
          </a:xfrm>
          <a:prstGeom prst="rect">
            <a:avLst/>
          </a:prstGeom>
        </p:spPr>
      </p:pic>
      <p:sp>
        <p:nvSpPr>
          <p:cNvPr id="6" name="Заголовок 1">
            <a:extLst>
              <a:ext uri="{FF2B5EF4-FFF2-40B4-BE49-F238E27FC236}">
                <a16:creationId xmlns:a16="http://schemas.microsoft.com/office/drawing/2014/main" id="{AE1B017E-204E-DA16-5E2F-DDE8C50BD25F}"/>
              </a:ext>
            </a:extLst>
          </p:cNvPr>
          <p:cNvSpPr txBox="1">
            <a:spLocks/>
          </p:cNvSpPr>
          <p:nvPr/>
        </p:nvSpPr>
        <p:spPr>
          <a:xfrm>
            <a:off x="443615" y="899714"/>
            <a:ext cx="11304763" cy="749813"/>
          </a:xfrm>
          <a:prstGeom prst="rect">
            <a:avLst/>
          </a:prstGeom>
          <a:solidFill>
            <a:srgbClr val="FFFFFF">
              <a:alpha val="40000"/>
            </a:srgbClr>
          </a:solidFill>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t>To add a new item, define a 6-digit code, a unit name, type (Food/General) and measuring unit, and then press “Add Item” button. A new item will be stored in Goods Registry and will be available for logistic operations.</a:t>
            </a:r>
            <a:endParaRPr lang="uk-UA" sz="2400" b="1" dirty="0"/>
          </a:p>
        </p:txBody>
      </p:sp>
    </p:spTree>
    <p:extLst>
      <p:ext uri="{BB962C8B-B14F-4D97-AF65-F5344CB8AC3E}">
        <p14:creationId xmlns:p14="http://schemas.microsoft.com/office/powerpoint/2010/main" val="3975412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1FE531C2-EFA6-3F08-A80B-BBBE2477057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986961-6997-10AC-10AB-2DB6C8481B79}"/>
              </a:ext>
            </a:extLst>
          </p:cNvPr>
          <p:cNvSpPr>
            <a:spLocks noGrp="1"/>
          </p:cNvSpPr>
          <p:nvPr>
            <p:ph type="ctrTitle"/>
          </p:nvPr>
        </p:nvSpPr>
        <p:spPr>
          <a:xfrm>
            <a:off x="443616" y="149902"/>
            <a:ext cx="11304763" cy="465610"/>
          </a:xfrm>
          <a:solidFill>
            <a:srgbClr val="FFFFFF">
              <a:alpha val="40000"/>
            </a:srgbClr>
          </a:solidFill>
        </p:spPr>
        <p:txBody>
          <a:bodyPr>
            <a:normAutofit fontScale="90000"/>
          </a:bodyPr>
          <a:lstStyle/>
          <a:p>
            <a:pPr algn="r"/>
            <a:r>
              <a:rPr lang="en-US" sz="3200" b="1" dirty="0"/>
              <a:t>Goods registry – edit an item</a:t>
            </a:r>
            <a:endParaRPr lang="uk-UA" sz="3200" b="1" dirty="0"/>
          </a:p>
        </p:txBody>
      </p:sp>
      <p:pic>
        <p:nvPicPr>
          <p:cNvPr id="4" name="Рисунок 3">
            <a:extLst>
              <a:ext uri="{FF2B5EF4-FFF2-40B4-BE49-F238E27FC236}">
                <a16:creationId xmlns:a16="http://schemas.microsoft.com/office/drawing/2014/main" id="{7D4A53B4-C57C-3043-91C8-360862537AD2}"/>
              </a:ext>
            </a:extLst>
          </p:cNvPr>
          <p:cNvPicPr>
            <a:picLocks noChangeAspect="1"/>
          </p:cNvPicPr>
          <p:nvPr/>
        </p:nvPicPr>
        <p:blipFill>
          <a:blip r:embed="rId2"/>
          <a:stretch>
            <a:fillRect/>
          </a:stretch>
        </p:blipFill>
        <p:spPr>
          <a:xfrm>
            <a:off x="-3" y="1933730"/>
            <a:ext cx="11146978" cy="4924269"/>
          </a:xfrm>
          <a:prstGeom prst="rect">
            <a:avLst/>
          </a:prstGeom>
        </p:spPr>
      </p:pic>
      <p:sp>
        <p:nvSpPr>
          <p:cNvPr id="6" name="Заголовок 1">
            <a:extLst>
              <a:ext uri="{FF2B5EF4-FFF2-40B4-BE49-F238E27FC236}">
                <a16:creationId xmlns:a16="http://schemas.microsoft.com/office/drawing/2014/main" id="{44D4223B-52D9-1318-D89D-37B33B12DACD}"/>
              </a:ext>
            </a:extLst>
          </p:cNvPr>
          <p:cNvSpPr txBox="1">
            <a:spLocks/>
          </p:cNvSpPr>
          <p:nvPr/>
        </p:nvSpPr>
        <p:spPr>
          <a:xfrm>
            <a:off x="438231" y="615512"/>
            <a:ext cx="11304763" cy="1034015"/>
          </a:xfrm>
          <a:prstGeom prst="rect">
            <a:avLst/>
          </a:prstGeom>
          <a:solidFill>
            <a:srgbClr val="FFFFFF">
              <a:alpha val="40000"/>
            </a:srgbClr>
          </a:solidFill>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t>An item name, type and measuring unit are changeable. It`s impossible to change the code, because it violates foreign key constraint in the database (goods registry and inventory tables are tied to Logistics table by an item code; this issue to be updated in future versions). As it was mentioned before, only a manager can edit the goods registry items.</a:t>
            </a:r>
            <a:endParaRPr lang="uk-UA" sz="2400" b="1" dirty="0"/>
          </a:p>
        </p:txBody>
      </p:sp>
    </p:spTree>
    <p:extLst>
      <p:ext uri="{BB962C8B-B14F-4D97-AF65-F5344CB8AC3E}">
        <p14:creationId xmlns:p14="http://schemas.microsoft.com/office/powerpoint/2010/main" val="2688884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2C57B552-010B-9D63-DD5F-C35E96C9877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7B08E9-5C52-226C-2460-A7E020F44931}"/>
              </a:ext>
            </a:extLst>
          </p:cNvPr>
          <p:cNvSpPr>
            <a:spLocks noGrp="1"/>
          </p:cNvSpPr>
          <p:nvPr>
            <p:ph type="ctrTitle"/>
          </p:nvPr>
        </p:nvSpPr>
        <p:spPr>
          <a:xfrm>
            <a:off x="443616" y="149901"/>
            <a:ext cx="11304763" cy="824459"/>
          </a:xfrm>
          <a:solidFill>
            <a:srgbClr val="FFFFFF">
              <a:alpha val="40000"/>
            </a:srgbClr>
          </a:solidFill>
        </p:spPr>
        <p:txBody>
          <a:bodyPr>
            <a:normAutofit/>
          </a:bodyPr>
          <a:lstStyle/>
          <a:p>
            <a:r>
              <a:rPr lang="en-US" sz="4000" b="1" dirty="0"/>
              <a:t>CHAPTER 4. PERSONNEL</a:t>
            </a:r>
            <a:endParaRPr lang="uk-UA" sz="4000" b="1" dirty="0"/>
          </a:p>
        </p:txBody>
      </p:sp>
      <p:pic>
        <p:nvPicPr>
          <p:cNvPr id="4" name="Рисунок 3">
            <a:extLst>
              <a:ext uri="{FF2B5EF4-FFF2-40B4-BE49-F238E27FC236}">
                <a16:creationId xmlns:a16="http://schemas.microsoft.com/office/drawing/2014/main" id="{5C9CBCDE-A373-85C4-CB15-D731D18ADB72}"/>
              </a:ext>
            </a:extLst>
          </p:cNvPr>
          <p:cNvPicPr>
            <a:picLocks noChangeAspect="1"/>
          </p:cNvPicPr>
          <p:nvPr/>
        </p:nvPicPr>
        <p:blipFill>
          <a:blip r:embed="rId2"/>
          <a:stretch>
            <a:fillRect/>
          </a:stretch>
        </p:blipFill>
        <p:spPr>
          <a:xfrm>
            <a:off x="0" y="1849038"/>
            <a:ext cx="10493115" cy="5008962"/>
          </a:xfrm>
          <a:prstGeom prst="rect">
            <a:avLst/>
          </a:prstGeom>
        </p:spPr>
      </p:pic>
      <p:sp>
        <p:nvSpPr>
          <p:cNvPr id="8" name="Заголовок 1">
            <a:extLst>
              <a:ext uri="{FF2B5EF4-FFF2-40B4-BE49-F238E27FC236}">
                <a16:creationId xmlns:a16="http://schemas.microsoft.com/office/drawing/2014/main" id="{AD9A76F3-5605-9FF6-2C0A-B56AA6F585F0}"/>
              </a:ext>
            </a:extLst>
          </p:cNvPr>
          <p:cNvSpPr txBox="1">
            <a:spLocks/>
          </p:cNvSpPr>
          <p:nvPr/>
        </p:nvSpPr>
        <p:spPr>
          <a:xfrm>
            <a:off x="443616" y="974360"/>
            <a:ext cx="11304763" cy="824459"/>
          </a:xfrm>
          <a:prstGeom prst="rect">
            <a:avLst/>
          </a:prstGeom>
          <a:solidFill>
            <a:srgbClr val="FFFFFF">
              <a:alpha val="40000"/>
            </a:srgbClr>
          </a:solidFill>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mn-lt"/>
              </a:rPr>
              <a:t>Personnel table is expanded while ‘Search’ button is pressed (as well as in any other table). To sort the personnel, you can search by Gov ID, Full Name, Date of Birth, Occupation and Status (active or not). To add new employee, press ‘</a:t>
            </a:r>
            <a:r>
              <a:rPr lang="en-US" sz="4000" dirty="0">
                <a:latin typeface="+mn-lt"/>
                <a:hlinkClick r:id="rId3" action="ppaction://hlinksldjump">
                  <a:extLst>
                    <a:ext uri="{A12FA001-AC4F-418D-AE19-62706E023703}">
                      <ahyp:hlinkClr xmlns:ahyp="http://schemas.microsoft.com/office/drawing/2018/hyperlinkcolor" val="tx"/>
                    </a:ext>
                  </a:extLst>
                </a:hlinkClick>
              </a:rPr>
              <a:t>Add New Employee</a:t>
            </a:r>
            <a:r>
              <a:rPr lang="en-US" sz="4000" dirty="0">
                <a:latin typeface="+mn-lt"/>
              </a:rPr>
              <a:t>’ button, to edit an employee`s info, press ‘</a:t>
            </a:r>
            <a:r>
              <a:rPr lang="en-US" sz="4000" dirty="0">
                <a:latin typeface="+mn-lt"/>
                <a:hlinkClick r:id="rId4" action="ppaction://hlinksldjump">
                  <a:extLst>
                    <a:ext uri="{A12FA001-AC4F-418D-AE19-62706E023703}">
                      <ahyp:hlinkClr xmlns:ahyp="http://schemas.microsoft.com/office/drawing/2018/hyperlinkcolor" val="tx"/>
                    </a:ext>
                  </a:extLst>
                </a:hlinkClick>
              </a:rPr>
              <a:t>Manage</a:t>
            </a:r>
            <a:r>
              <a:rPr lang="en-US" sz="4000" dirty="0">
                <a:latin typeface="+mn-lt"/>
              </a:rPr>
              <a:t>’ button at the last table`s column.</a:t>
            </a:r>
            <a:endParaRPr lang="uk-UA" sz="4000" dirty="0">
              <a:latin typeface="+mn-lt"/>
            </a:endParaRPr>
          </a:p>
        </p:txBody>
      </p:sp>
    </p:spTree>
    <p:extLst>
      <p:ext uri="{BB962C8B-B14F-4D97-AF65-F5344CB8AC3E}">
        <p14:creationId xmlns:p14="http://schemas.microsoft.com/office/powerpoint/2010/main" val="3844133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A3886B53-7FA6-0AFA-50DA-CCFCCCA0816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741B36-59AA-4AA9-D49F-098B1E556476}"/>
              </a:ext>
            </a:extLst>
          </p:cNvPr>
          <p:cNvSpPr>
            <a:spLocks noGrp="1"/>
          </p:cNvSpPr>
          <p:nvPr>
            <p:ph type="ctrTitle"/>
          </p:nvPr>
        </p:nvSpPr>
        <p:spPr>
          <a:xfrm>
            <a:off x="443618" y="0"/>
            <a:ext cx="11304763" cy="614597"/>
          </a:xfrm>
          <a:solidFill>
            <a:srgbClr val="FFFFFF">
              <a:alpha val="40000"/>
            </a:srgbClr>
          </a:solidFill>
        </p:spPr>
        <p:txBody>
          <a:bodyPr>
            <a:normAutofit/>
          </a:bodyPr>
          <a:lstStyle/>
          <a:p>
            <a:pPr algn="r"/>
            <a:r>
              <a:rPr lang="en-US" sz="3200" b="1" dirty="0"/>
              <a:t>Personnel – add new employee</a:t>
            </a:r>
            <a:endParaRPr lang="uk-UA" sz="3200" b="1" dirty="0"/>
          </a:p>
        </p:txBody>
      </p:sp>
      <p:sp>
        <p:nvSpPr>
          <p:cNvPr id="5" name="Заголовок 1">
            <a:extLst>
              <a:ext uri="{FF2B5EF4-FFF2-40B4-BE49-F238E27FC236}">
                <a16:creationId xmlns:a16="http://schemas.microsoft.com/office/drawing/2014/main" id="{8177B12A-905C-1781-D1C8-ED26B4A8090D}"/>
              </a:ext>
            </a:extLst>
          </p:cNvPr>
          <p:cNvSpPr txBox="1">
            <a:spLocks/>
          </p:cNvSpPr>
          <p:nvPr/>
        </p:nvSpPr>
        <p:spPr>
          <a:xfrm>
            <a:off x="443617" y="614597"/>
            <a:ext cx="11304763" cy="1144040"/>
          </a:xfrm>
          <a:prstGeom prst="rect">
            <a:avLst/>
          </a:prstGeom>
          <a:solidFill>
            <a:srgbClr val="FFFFFF">
              <a:alpha val="40000"/>
            </a:srgbClr>
          </a:solidFill>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000" dirty="0">
                <a:latin typeface="+mn-lt"/>
              </a:rPr>
              <a:t>To add a new employee to the list, fill all required </a:t>
            </a:r>
            <a:r>
              <a:rPr lang="en-US" sz="2000" dirty="0" err="1">
                <a:latin typeface="+mn-lt"/>
              </a:rPr>
              <a:t>fieds</a:t>
            </a:r>
            <a:r>
              <a:rPr lang="en-US" sz="2000" dirty="0">
                <a:latin typeface="+mn-lt"/>
              </a:rPr>
              <a:t>, create a password and press “Add employee” button. Please note, there are three occupation types available: Manager, Receiver and General Worker. Since an account is created, transfer the account`s login credentials to an employee to let him log in and change the initial password to it`s own personal.</a:t>
            </a:r>
            <a:endParaRPr lang="uk-UA" sz="2000" dirty="0">
              <a:latin typeface="+mn-lt"/>
            </a:endParaRPr>
          </a:p>
        </p:txBody>
      </p:sp>
      <p:pic>
        <p:nvPicPr>
          <p:cNvPr id="7" name="Рисунок 6">
            <a:extLst>
              <a:ext uri="{FF2B5EF4-FFF2-40B4-BE49-F238E27FC236}">
                <a16:creationId xmlns:a16="http://schemas.microsoft.com/office/drawing/2014/main" id="{173DF310-6D5C-239F-C034-D10FB71B6E22}"/>
              </a:ext>
            </a:extLst>
          </p:cNvPr>
          <p:cNvPicPr>
            <a:picLocks noChangeAspect="1"/>
          </p:cNvPicPr>
          <p:nvPr/>
        </p:nvPicPr>
        <p:blipFill>
          <a:blip r:embed="rId2"/>
          <a:stretch>
            <a:fillRect/>
          </a:stretch>
        </p:blipFill>
        <p:spPr>
          <a:xfrm>
            <a:off x="-1" y="1758637"/>
            <a:ext cx="11137693" cy="5315906"/>
          </a:xfrm>
          <a:prstGeom prst="rect">
            <a:avLst/>
          </a:prstGeom>
        </p:spPr>
      </p:pic>
    </p:spTree>
    <p:extLst>
      <p:ext uri="{BB962C8B-B14F-4D97-AF65-F5344CB8AC3E}">
        <p14:creationId xmlns:p14="http://schemas.microsoft.com/office/powerpoint/2010/main" val="4091571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F6188ABE-8C92-D03F-2C4F-1C54EB23E1C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B597CD-C135-F24E-EF27-706817CFD96E}"/>
              </a:ext>
            </a:extLst>
          </p:cNvPr>
          <p:cNvSpPr>
            <a:spLocks noGrp="1"/>
          </p:cNvSpPr>
          <p:nvPr>
            <p:ph type="ctrTitle"/>
          </p:nvPr>
        </p:nvSpPr>
        <p:spPr>
          <a:xfrm>
            <a:off x="6867" y="0"/>
            <a:ext cx="5494523" cy="1244184"/>
          </a:xfrm>
          <a:solidFill>
            <a:srgbClr val="FFFFFF">
              <a:alpha val="40000"/>
            </a:srgbClr>
          </a:solidFill>
        </p:spPr>
        <p:txBody>
          <a:bodyPr>
            <a:normAutofit fontScale="90000"/>
          </a:bodyPr>
          <a:lstStyle/>
          <a:p>
            <a:pPr algn="l"/>
            <a:r>
              <a:rPr lang="en-US" sz="3200" b="1" dirty="0"/>
              <a:t>Personnel – update employee`s info, dismiss or return back a dismissed employee</a:t>
            </a:r>
            <a:endParaRPr lang="uk-UA" sz="3200" b="1" dirty="0"/>
          </a:p>
        </p:txBody>
      </p:sp>
      <p:pic>
        <p:nvPicPr>
          <p:cNvPr id="4" name="Рисунок 3">
            <a:extLst>
              <a:ext uri="{FF2B5EF4-FFF2-40B4-BE49-F238E27FC236}">
                <a16:creationId xmlns:a16="http://schemas.microsoft.com/office/drawing/2014/main" id="{AC72DD67-8EB7-2544-1EF9-CE90C883FE5A}"/>
              </a:ext>
            </a:extLst>
          </p:cNvPr>
          <p:cNvPicPr>
            <a:picLocks noChangeAspect="1"/>
          </p:cNvPicPr>
          <p:nvPr/>
        </p:nvPicPr>
        <p:blipFill>
          <a:blip r:embed="rId2"/>
          <a:stretch>
            <a:fillRect/>
          </a:stretch>
        </p:blipFill>
        <p:spPr>
          <a:xfrm>
            <a:off x="-1" y="1255844"/>
            <a:ext cx="4886793" cy="5603639"/>
          </a:xfrm>
          <a:prstGeom prst="rect">
            <a:avLst/>
          </a:prstGeom>
        </p:spPr>
      </p:pic>
      <p:pic>
        <p:nvPicPr>
          <p:cNvPr id="6" name="Рисунок 5">
            <a:extLst>
              <a:ext uri="{FF2B5EF4-FFF2-40B4-BE49-F238E27FC236}">
                <a16:creationId xmlns:a16="http://schemas.microsoft.com/office/drawing/2014/main" id="{87DC7814-B080-095F-4488-CAF74F391277}"/>
              </a:ext>
            </a:extLst>
          </p:cNvPr>
          <p:cNvPicPr>
            <a:picLocks noChangeAspect="1"/>
          </p:cNvPicPr>
          <p:nvPr/>
        </p:nvPicPr>
        <p:blipFill>
          <a:blip r:embed="rId3"/>
          <a:stretch>
            <a:fillRect/>
          </a:stretch>
        </p:blipFill>
        <p:spPr>
          <a:xfrm>
            <a:off x="5501390" y="1277805"/>
            <a:ext cx="4542020" cy="5580196"/>
          </a:xfrm>
          <a:prstGeom prst="rect">
            <a:avLst/>
          </a:prstGeom>
        </p:spPr>
      </p:pic>
      <p:sp>
        <p:nvSpPr>
          <p:cNvPr id="9" name="Заголовок 1">
            <a:extLst>
              <a:ext uri="{FF2B5EF4-FFF2-40B4-BE49-F238E27FC236}">
                <a16:creationId xmlns:a16="http://schemas.microsoft.com/office/drawing/2014/main" id="{83B7F76D-2A2D-2EDE-7D3C-64FDD7C52A6B}"/>
              </a:ext>
            </a:extLst>
          </p:cNvPr>
          <p:cNvSpPr txBox="1">
            <a:spLocks/>
          </p:cNvSpPr>
          <p:nvPr/>
        </p:nvSpPr>
        <p:spPr>
          <a:xfrm>
            <a:off x="6910465" y="0"/>
            <a:ext cx="5274667" cy="1244184"/>
          </a:xfrm>
          <a:prstGeom prst="rect">
            <a:avLst/>
          </a:prstGeom>
          <a:solidFill>
            <a:srgbClr val="FFFFFF">
              <a:alpha val="40000"/>
            </a:srgbClr>
          </a:solidFill>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latin typeface="+mn-lt"/>
              </a:rPr>
              <a:t>In “Manage” tab you can change Gov ID, Full Name, Date of Birth, set new password, change Occupation, dismiss an employee or return back once dismissed employee</a:t>
            </a:r>
            <a:endParaRPr lang="uk-UA" sz="2400" dirty="0">
              <a:latin typeface="+mn-lt"/>
            </a:endParaRPr>
          </a:p>
        </p:txBody>
      </p:sp>
    </p:spTree>
    <p:extLst>
      <p:ext uri="{BB962C8B-B14F-4D97-AF65-F5344CB8AC3E}">
        <p14:creationId xmlns:p14="http://schemas.microsoft.com/office/powerpoint/2010/main" val="2638698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D02B2DC7-207F-07E9-59FF-3D5A6160CB9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C0611C-DE5B-9BFD-73B5-236BB2FEE0EA}"/>
              </a:ext>
            </a:extLst>
          </p:cNvPr>
          <p:cNvSpPr>
            <a:spLocks noGrp="1"/>
          </p:cNvSpPr>
          <p:nvPr>
            <p:ph type="ctrTitle"/>
          </p:nvPr>
        </p:nvSpPr>
        <p:spPr>
          <a:xfrm>
            <a:off x="443614" y="44970"/>
            <a:ext cx="11304763" cy="704537"/>
          </a:xfrm>
          <a:solidFill>
            <a:srgbClr val="FFFFFF">
              <a:alpha val="40000"/>
            </a:srgbClr>
          </a:solidFill>
        </p:spPr>
        <p:txBody>
          <a:bodyPr>
            <a:normAutofit/>
          </a:bodyPr>
          <a:lstStyle/>
          <a:p>
            <a:r>
              <a:rPr lang="en-US" sz="4000" b="1" dirty="0"/>
              <a:t>CHAPTER 5. MY ACCOUNT</a:t>
            </a:r>
            <a:endParaRPr lang="uk-UA" sz="4000" b="1" dirty="0"/>
          </a:p>
        </p:txBody>
      </p:sp>
      <p:pic>
        <p:nvPicPr>
          <p:cNvPr id="4" name="Рисунок 3">
            <a:extLst>
              <a:ext uri="{FF2B5EF4-FFF2-40B4-BE49-F238E27FC236}">
                <a16:creationId xmlns:a16="http://schemas.microsoft.com/office/drawing/2014/main" id="{62AD5FF0-A59A-A652-22EA-9B8CEDAB2C74}"/>
              </a:ext>
            </a:extLst>
          </p:cNvPr>
          <p:cNvPicPr>
            <a:picLocks noChangeAspect="1"/>
          </p:cNvPicPr>
          <p:nvPr/>
        </p:nvPicPr>
        <p:blipFill>
          <a:blip r:embed="rId2"/>
          <a:stretch>
            <a:fillRect/>
          </a:stretch>
        </p:blipFill>
        <p:spPr>
          <a:xfrm>
            <a:off x="0" y="1768839"/>
            <a:ext cx="9410595" cy="5089161"/>
          </a:xfrm>
          <a:prstGeom prst="rect">
            <a:avLst/>
          </a:prstGeom>
        </p:spPr>
      </p:pic>
      <p:sp>
        <p:nvSpPr>
          <p:cNvPr id="5" name="Заголовок 1">
            <a:extLst>
              <a:ext uri="{FF2B5EF4-FFF2-40B4-BE49-F238E27FC236}">
                <a16:creationId xmlns:a16="http://schemas.microsoft.com/office/drawing/2014/main" id="{7A7EAAE2-4842-B6F7-C585-5B7724806342}"/>
              </a:ext>
            </a:extLst>
          </p:cNvPr>
          <p:cNvSpPr txBox="1">
            <a:spLocks/>
          </p:cNvSpPr>
          <p:nvPr/>
        </p:nvSpPr>
        <p:spPr>
          <a:xfrm>
            <a:off x="443615" y="749507"/>
            <a:ext cx="11304763" cy="809469"/>
          </a:xfrm>
          <a:prstGeom prst="rect">
            <a:avLst/>
          </a:prstGeom>
          <a:solidFill>
            <a:srgbClr val="FFFFFF">
              <a:alpha val="40000"/>
            </a:srgbClr>
          </a:solidFill>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latin typeface="+mn-lt"/>
              </a:rPr>
              <a:t>Available for Manager dashboard only</a:t>
            </a:r>
            <a:r>
              <a:rPr lang="en-US" sz="2400" dirty="0">
                <a:latin typeface="+mn-lt"/>
              </a:rPr>
              <a:t>; here you can change your own account`s Gov ID, Full Name, Date of Birth and Password. The occupation change, Dismiss/Return functions can be only triggered from other Manager`s account. For Receivers and General Workers there is only </a:t>
            </a:r>
            <a:r>
              <a:rPr lang="en-US" sz="2400" b="1" dirty="0">
                <a:latin typeface="+mn-lt"/>
                <a:hlinkClick r:id="rId3" action="ppaction://hlinksldjump">
                  <a:extLst>
                    <a:ext uri="{A12FA001-AC4F-418D-AE19-62706E023703}">
                      <ahyp:hlinkClr xmlns:ahyp="http://schemas.microsoft.com/office/drawing/2018/hyperlinkcolor" val="tx"/>
                    </a:ext>
                  </a:extLst>
                </a:hlinkClick>
              </a:rPr>
              <a:t>Change Password </a:t>
            </a:r>
            <a:r>
              <a:rPr lang="en-US" sz="2400" dirty="0">
                <a:latin typeface="+mn-lt"/>
              </a:rPr>
              <a:t>option available</a:t>
            </a:r>
            <a:endParaRPr lang="uk-UA" sz="2400" dirty="0">
              <a:latin typeface="+mn-lt"/>
            </a:endParaRPr>
          </a:p>
        </p:txBody>
      </p:sp>
    </p:spTree>
    <p:extLst>
      <p:ext uri="{BB962C8B-B14F-4D97-AF65-F5344CB8AC3E}">
        <p14:creationId xmlns:p14="http://schemas.microsoft.com/office/powerpoint/2010/main" val="1640664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3CFE38EE-DE79-7F6B-F385-87C34DA5AF0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DE333A-E16D-584A-F326-D7DB2DE335EA}"/>
              </a:ext>
            </a:extLst>
          </p:cNvPr>
          <p:cNvSpPr>
            <a:spLocks noGrp="1"/>
          </p:cNvSpPr>
          <p:nvPr>
            <p:ph type="ctrTitle"/>
          </p:nvPr>
        </p:nvSpPr>
        <p:spPr>
          <a:xfrm>
            <a:off x="443615" y="0"/>
            <a:ext cx="11304763" cy="794478"/>
          </a:xfrm>
          <a:solidFill>
            <a:srgbClr val="FFFFFF">
              <a:alpha val="40000"/>
            </a:srgbClr>
          </a:solidFill>
        </p:spPr>
        <p:txBody>
          <a:bodyPr>
            <a:normAutofit/>
          </a:bodyPr>
          <a:lstStyle/>
          <a:p>
            <a:r>
              <a:rPr lang="en-US" sz="4000" b="1" dirty="0"/>
              <a:t>CHAPTER 6. CHANGE PASSWORD</a:t>
            </a:r>
            <a:endParaRPr lang="uk-UA" sz="4000" b="1" dirty="0"/>
          </a:p>
        </p:txBody>
      </p:sp>
      <p:pic>
        <p:nvPicPr>
          <p:cNvPr id="4" name="Рисунок 3">
            <a:extLst>
              <a:ext uri="{FF2B5EF4-FFF2-40B4-BE49-F238E27FC236}">
                <a16:creationId xmlns:a16="http://schemas.microsoft.com/office/drawing/2014/main" id="{4D05BD8E-D1AC-220C-2981-0DC4B80339FB}"/>
              </a:ext>
            </a:extLst>
          </p:cNvPr>
          <p:cNvPicPr>
            <a:picLocks noChangeAspect="1"/>
          </p:cNvPicPr>
          <p:nvPr/>
        </p:nvPicPr>
        <p:blipFill>
          <a:blip r:embed="rId2"/>
          <a:stretch>
            <a:fillRect/>
          </a:stretch>
        </p:blipFill>
        <p:spPr>
          <a:xfrm>
            <a:off x="0" y="1154243"/>
            <a:ext cx="8922428" cy="5126636"/>
          </a:xfrm>
          <a:prstGeom prst="rect">
            <a:avLst/>
          </a:prstGeom>
        </p:spPr>
      </p:pic>
      <p:sp>
        <p:nvSpPr>
          <p:cNvPr id="5" name="Заголовок 1">
            <a:extLst>
              <a:ext uri="{FF2B5EF4-FFF2-40B4-BE49-F238E27FC236}">
                <a16:creationId xmlns:a16="http://schemas.microsoft.com/office/drawing/2014/main" id="{4929473D-69E0-B992-74A5-75AC7A4CA74D}"/>
              </a:ext>
            </a:extLst>
          </p:cNvPr>
          <p:cNvSpPr txBox="1">
            <a:spLocks/>
          </p:cNvSpPr>
          <p:nvPr/>
        </p:nvSpPr>
        <p:spPr>
          <a:xfrm>
            <a:off x="8928055" y="1154243"/>
            <a:ext cx="3263945" cy="3687579"/>
          </a:xfrm>
          <a:prstGeom prst="rect">
            <a:avLst/>
          </a:prstGeom>
          <a:solidFill>
            <a:srgbClr val="FFFFFF">
              <a:alpha val="40000"/>
            </a:srgbClr>
          </a:solidFill>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latin typeface="+mn-lt"/>
              </a:rPr>
              <a:t>While having an account of Receiver or General Worker, it`s only possible to change own account`s password by clicking on “</a:t>
            </a:r>
            <a:r>
              <a:rPr lang="en-US" sz="2400" b="1" dirty="0">
                <a:latin typeface="+mn-lt"/>
              </a:rPr>
              <a:t>Change Password</a:t>
            </a:r>
            <a:r>
              <a:rPr lang="en-US" sz="2400" dirty="0">
                <a:latin typeface="+mn-lt"/>
              </a:rPr>
              <a:t>” tab`s button; in case if your credentials are misspelled, you should apply to any Manager account holder to </a:t>
            </a:r>
            <a:r>
              <a:rPr lang="en-US" sz="2400" b="1" dirty="0">
                <a:latin typeface="+mn-lt"/>
                <a:hlinkClick r:id="rId3" action="ppaction://hlinksldjump">
                  <a:extLst>
                    <a:ext uri="{A12FA001-AC4F-418D-AE19-62706E023703}">
                      <ahyp:hlinkClr xmlns:ahyp="http://schemas.microsoft.com/office/drawing/2018/hyperlinkcolor" val="tx"/>
                    </a:ext>
                  </a:extLst>
                </a:hlinkClick>
              </a:rPr>
              <a:t>change them</a:t>
            </a:r>
            <a:r>
              <a:rPr lang="en-US" sz="2400" b="1" dirty="0">
                <a:latin typeface="+mn-lt"/>
              </a:rPr>
              <a:t>.</a:t>
            </a:r>
            <a:endParaRPr lang="uk-UA" sz="2400" b="1" dirty="0">
              <a:latin typeface="+mn-lt"/>
            </a:endParaRPr>
          </a:p>
        </p:txBody>
      </p:sp>
    </p:spTree>
    <p:extLst>
      <p:ext uri="{BB962C8B-B14F-4D97-AF65-F5344CB8AC3E}">
        <p14:creationId xmlns:p14="http://schemas.microsoft.com/office/powerpoint/2010/main" val="965702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9F98A-60A9-CA94-FF5A-2F1482446DAE}"/>
            </a:ext>
          </a:extLst>
        </p:cNvPr>
        <p:cNvGrpSpPr/>
        <p:nvPr/>
      </p:nvGrpSpPr>
      <p:grpSpPr>
        <a:xfrm>
          <a:off x="0" y="0"/>
          <a:ext cx="0" cy="0"/>
          <a:chOff x="0" y="0"/>
          <a:chExt cx="0" cy="0"/>
        </a:xfrm>
      </p:grpSpPr>
      <p:pic>
        <p:nvPicPr>
          <p:cNvPr id="10" name="Рисунок 9">
            <a:extLst>
              <a:ext uri="{FF2B5EF4-FFF2-40B4-BE49-F238E27FC236}">
                <a16:creationId xmlns:a16="http://schemas.microsoft.com/office/drawing/2014/main" id="{A74F3C31-C101-EF78-B43F-DEA958A8E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Заголовок 1">
            <a:extLst>
              <a:ext uri="{FF2B5EF4-FFF2-40B4-BE49-F238E27FC236}">
                <a16:creationId xmlns:a16="http://schemas.microsoft.com/office/drawing/2014/main" id="{3B221176-3889-D2E8-B8A1-2BC332FF87F4}"/>
              </a:ext>
            </a:extLst>
          </p:cNvPr>
          <p:cNvSpPr>
            <a:spLocks noGrp="1"/>
          </p:cNvSpPr>
          <p:nvPr>
            <p:ph type="ctrTitle"/>
          </p:nvPr>
        </p:nvSpPr>
        <p:spPr>
          <a:xfrm>
            <a:off x="443618" y="509666"/>
            <a:ext cx="11304763" cy="944380"/>
          </a:xfrm>
          <a:solidFill>
            <a:srgbClr val="FFFFFF">
              <a:alpha val="40000"/>
            </a:srgbClr>
          </a:solidFill>
        </p:spPr>
        <p:txBody>
          <a:bodyPr>
            <a:normAutofit/>
          </a:bodyPr>
          <a:lstStyle/>
          <a:p>
            <a:r>
              <a:rPr lang="en-US" sz="4800" b="1" dirty="0"/>
              <a:t>Thank you for watching!</a:t>
            </a:r>
            <a:endParaRPr lang="uk-UA" sz="4800" b="1" dirty="0"/>
          </a:p>
        </p:txBody>
      </p:sp>
      <p:sp>
        <p:nvSpPr>
          <p:cNvPr id="14" name="Місце для вмісту 7">
            <a:extLst>
              <a:ext uri="{FF2B5EF4-FFF2-40B4-BE49-F238E27FC236}">
                <a16:creationId xmlns:a16="http://schemas.microsoft.com/office/drawing/2014/main" id="{C4CDF3FA-2222-4E13-05CE-79238FD69382}"/>
              </a:ext>
            </a:extLst>
          </p:cNvPr>
          <p:cNvSpPr txBox="1">
            <a:spLocks/>
          </p:cNvSpPr>
          <p:nvPr/>
        </p:nvSpPr>
        <p:spPr>
          <a:xfrm>
            <a:off x="443617" y="4763124"/>
            <a:ext cx="11304763" cy="944380"/>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More information about the author:</a:t>
            </a:r>
          </a:p>
          <a:p>
            <a:r>
              <a:rPr lang="en-US" dirty="0">
                <a:hlinkClick r:id="rId3"/>
              </a:rPr>
              <a:t>LinkedIn</a:t>
            </a:r>
            <a:r>
              <a:rPr lang="en-US" dirty="0"/>
              <a:t>                        </a:t>
            </a:r>
            <a:r>
              <a:rPr lang="en-US" dirty="0">
                <a:hlinkClick r:id="rId4"/>
              </a:rPr>
              <a:t>GitHub</a:t>
            </a:r>
            <a:endParaRPr lang="uk-UA" dirty="0"/>
          </a:p>
        </p:txBody>
      </p:sp>
    </p:spTree>
    <p:extLst>
      <p:ext uri="{BB962C8B-B14F-4D97-AF65-F5344CB8AC3E}">
        <p14:creationId xmlns:p14="http://schemas.microsoft.com/office/powerpoint/2010/main" val="2922714754"/>
      </p:ext>
    </p:extLst>
  </p:cSld>
  <p:clrMapOvr>
    <a:masterClrMapping/>
  </p:clrMapOvr>
</p:sld>
</file>

<file path=ppt/theme/theme1.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TotalTime>
  <Words>1478</Words>
  <Application>Microsoft Office PowerPoint</Application>
  <PresentationFormat>Широкий екран</PresentationFormat>
  <Paragraphs>101</Paragraphs>
  <Slides>24</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24</vt:i4>
      </vt:variant>
    </vt:vector>
  </HeadingPairs>
  <TitlesOfParts>
    <vt:vector size="28" baseType="lpstr">
      <vt:lpstr>Arial</vt:lpstr>
      <vt:lpstr>Calibri</vt:lpstr>
      <vt:lpstr>Calibri Light</vt:lpstr>
      <vt:lpstr>Тема Office</vt:lpstr>
      <vt:lpstr>WAREHOUSE APP v 1.0</vt:lpstr>
      <vt:lpstr>Navigation</vt:lpstr>
      <vt:lpstr>Презентація PowerPoint</vt:lpstr>
      <vt:lpstr>How does it work?</vt:lpstr>
      <vt:lpstr>Types of logistic operations:</vt:lpstr>
      <vt:lpstr>Schema of the application:</vt:lpstr>
      <vt:lpstr>CHAPTER 0. LOG IN</vt:lpstr>
      <vt:lpstr>CHAPTER 1. LOGISTICS</vt:lpstr>
      <vt:lpstr>Manager dashboard</vt:lpstr>
      <vt:lpstr>Receiver dashboard</vt:lpstr>
      <vt:lpstr>General worker dashboard</vt:lpstr>
      <vt:lpstr>New logistic operation</vt:lpstr>
      <vt:lpstr>Logistic operation types</vt:lpstr>
      <vt:lpstr>CHAPTER 2. INVENTORY</vt:lpstr>
      <vt:lpstr>2.2. General Inventory</vt:lpstr>
      <vt:lpstr>CHAPTER 3. GOODS REGISTRY</vt:lpstr>
      <vt:lpstr> Goods registry – add new item</vt:lpstr>
      <vt:lpstr>Goods registry – edit an item</vt:lpstr>
      <vt:lpstr>CHAPTER 4. PERSONNEL</vt:lpstr>
      <vt:lpstr>Personnel – add new employee</vt:lpstr>
      <vt:lpstr>Personnel – update employee`s info, dismiss or return back a dismissed employee</vt:lpstr>
      <vt:lpstr>CHAPTER 5. MY ACCOUNT</vt:lpstr>
      <vt:lpstr>CHAPTER 6. CHANGE PASSWORD</vt:lpstr>
      <vt:lpstr>Thank you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 Mark</dc:creator>
  <cp:lastModifiedBy>Mark Mark</cp:lastModifiedBy>
  <cp:revision>8</cp:revision>
  <dcterms:created xsi:type="dcterms:W3CDTF">2026-07-13T17:28:39Z</dcterms:created>
  <dcterms:modified xsi:type="dcterms:W3CDTF">2026-07-15T18:28:03Z</dcterms:modified>
</cp:coreProperties>
</file>