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0" r:id="rId2"/>
    <p:sldId id="281" r:id="rId3"/>
    <p:sldId id="257" r:id="rId4"/>
    <p:sldId id="256" r:id="rId5"/>
    <p:sldId id="282" r:id="rId6"/>
    <p:sldId id="283" r:id="rId7"/>
    <p:sldId id="284" r:id="rId8"/>
    <p:sldId id="290" r:id="rId9"/>
    <p:sldId id="291" r:id="rId10"/>
    <p:sldId id="292" r:id="rId11"/>
    <p:sldId id="286" r:id="rId12"/>
    <p:sldId id="287" r:id="rId13"/>
    <p:sldId id="289" r:id="rId14"/>
    <p:sldId id="280" r:id="rId15"/>
  </p:sldIdLst>
  <p:sldSz cx="12192000" cy="6858000"/>
  <p:notesSz cx="6858000" cy="9144000"/>
  <p:defaultText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79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верхнього колонтитула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uk-UA"/>
          </a:p>
        </p:txBody>
      </p:sp>
      <p:sp>
        <p:nvSpPr>
          <p:cNvPr id="3" name="Місце для дати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F403979-C662-4077-A82F-1FF1261D0569}" type="datetimeFigureOut">
              <a:rPr lang="uk-UA" smtClean="0"/>
              <a:t>20.07.2026</a:t>
            </a:fld>
            <a:endParaRPr lang="uk-UA"/>
          </a:p>
        </p:txBody>
      </p:sp>
      <p:sp>
        <p:nvSpPr>
          <p:cNvPr id="4" name="Місце для зображення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uk-UA"/>
          </a:p>
        </p:txBody>
      </p:sp>
      <p:sp>
        <p:nvSpPr>
          <p:cNvPr id="5" name="Місце для нотаток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6" name="Місце для нижнього колонтитула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uk-UA"/>
          </a:p>
        </p:txBody>
      </p:sp>
      <p:sp>
        <p:nvSpPr>
          <p:cNvPr id="7" name="Місце для номера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3C67473-1A5D-402C-B7BB-AE49D4E2D86C}" type="slidenum">
              <a:rPr lang="uk-UA" smtClean="0"/>
              <a:t>‹№›</a:t>
            </a:fld>
            <a:endParaRPr lang="uk-UA"/>
          </a:p>
        </p:txBody>
      </p:sp>
    </p:spTree>
    <p:extLst>
      <p:ext uri="{BB962C8B-B14F-4D97-AF65-F5344CB8AC3E}">
        <p14:creationId xmlns:p14="http://schemas.microsoft.com/office/powerpoint/2010/main" val="26442645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и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AC833-C3B6-EA0B-37F8-53EC9D35EB65}"/>
              </a:ext>
            </a:extLst>
          </p:cNvPr>
          <p:cNvSpPr>
            <a:spLocks noGrp="1"/>
          </p:cNvSpPr>
          <p:nvPr>
            <p:ph type="ctrTitle"/>
          </p:nvPr>
        </p:nvSpPr>
        <p:spPr>
          <a:xfrm>
            <a:off x="1524000" y="1122363"/>
            <a:ext cx="9144000" cy="2387600"/>
          </a:xfrm>
        </p:spPr>
        <p:txBody>
          <a:bodyPr anchor="b"/>
          <a:lstStyle>
            <a:lvl1pPr algn="ctr">
              <a:defRPr sz="6000"/>
            </a:lvl1pPr>
          </a:lstStyle>
          <a:p>
            <a:r>
              <a:rPr lang="uk-UA"/>
              <a:t>Клацніть, щоб редагувати стиль зразка заголовка</a:t>
            </a:r>
          </a:p>
        </p:txBody>
      </p:sp>
      <p:sp>
        <p:nvSpPr>
          <p:cNvPr id="3" name="Підзаголовок 2">
            <a:extLst>
              <a:ext uri="{FF2B5EF4-FFF2-40B4-BE49-F238E27FC236}">
                <a16:creationId xmlns:a16="http://schemas.microsoft.com/office/drawing/2014/main" id="{FAC8440F-E100-4A78-BF6F-610F97C95F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uk-UA"/>
              <a:t>Клацніть, щоб редагувати стиль зразка підзаголовка</a:t>
            </a:r>
          </a:p>
        </p:txBody>
      </p:sp>
      <p:sp>
        <p:nvSpPr>
          <p:cNvPr id="4" name="Місце для дати 3">
            <a:extLst>
              <a:ext uri="{FF2B5EF4-FFF2-40B4-BE49-F238E27FC236}">
                <a16:creationId xmlns:a16="http://schemas.microsoft.com/office/drawing/2014/main" id="{973D1B54-61EF-2ABE-1C8E-320972977A9E}"/>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34FCB347-D44D-2496-58BD-6C20ED517BF6}"/>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C54FFAD8-045C-626E-D1B3-5FD1662C6017}"/>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8598005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Назва та вмі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4A09DF0-C84B-8FBD-8318-B00C9F1B3C7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6BB2CF5-17E7-784A-FF49-AA4D5C881DFC}"/>
              </a:ext>
            </a:extLst>
          </p:cNvPr>
          <p:cNvSpPr>
            <a:spLocks noGrp="1"/>
          </p:cNvSpPr>
          <p:nvPr>
            <p:ph idx="1"/>
          </p:nvPr>
        </p:nvSpPr>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57B3BDD7-54F5-358B-FCF5-9A8503ADF845}"/>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533EEEC2-A2F4-CE1D-69B0-251E428BD11C}"/>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2567ADDA-D8A3-DA94-28CD-8D896F898EA1}"/>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694610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Назва розділу">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2A1DE70-AA72-EE13-859A-89730A7A7117}"/>
              </a:ext>
            </a:extLst>
          </p:cNvPr>
          <p:cNvSpPr>
            <a:spLocks noGrp="1"/>
          </p:cNvSpPr>
          <p:nvPr>
            <p:ph type="title"/>
          </p:nvPr>
        </p:nvSpPr>
        <p:spPr>
          <a:xfrm>
            <a:off x="831850" y="1709738"/>
            <a:ext cx="10515600" cy="2852737"/>
          </a:xfrm>
        </p:spPr>
        <p:txBody>
          <a:bodyPr anchor="b"/>
          <a:lstStyle>
            <a:lvl1pPr>
              <a:defRPr sz="6000"/>
            </a:lvl1p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9CB684CF-1A50-D696-3619-93A1A3A0FE2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uk-UA"/>
              <a:t>Клацніть, щоб відредагувати стилі зразків тексту</a:t>
            </a:r>
          </a:p>
        </p:txBody>
      </p:sp>
      <p:sp>
        <p:nvSpPr>
          <p:cNvPr id="4" name="Місце для дати 3">
            <a:extLst>
              <a:ext uri="{FF2B5EF4-FFF2-40B4-BE49-F238E27FC236}">
                <a16:creationId xmlns:a16="http://schemas.microsoft.com/office/drawing/2014/main" id="{36E87AE9-879D-E09F-7A43-F90B48953F62}"/>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A5AF0785-D825-20F0-6765-FD3E8AC462E3}"/>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967F0E81-849E-924C-CA96-BAE43FC1DE3D}"/>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44755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єкти">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DEE30F2-F81A-CC83-6D12-EC9D099143D7}"/>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6D828E77-696E-7F24-CBAA-86AB4DAB5893}"/>
              </a:ext>
            </a:extLst>
          </p:cNvPr>
          <p:cNvSpPr>
            <a:spLocks noGrp="1"/>
          </p:cNvSpPr>
          <p:nvPr>
            <p:ph sz="half" idx="1"/>
          </p:nvPr>
        </p:nvSpPr>
        <p:spPr>
          <a:xfrm>
            <a:off x="838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вмісту 3">
            <a:extLst>
              <a:ext uri="{FF2B5EF4-FFF2-40B4-BE49-F238E27FC236}">
                <a16:creationId xmlns:a16="http://schemas.microsoft.com/office/drawing/2014/main" id="{CAABFF37-F715-B821-B557-B82CD47899F8}"/>
              </a:ext>
            </a:extLst>
          </p:cNvPr>
          <p:cNvSpPr>
            <a:spLocks noGrp="1"/>
          </p:cNvSpPr>
          <p:nvPr>
            <p:ph sz="half" idx="2"/>
          </p:nvPr>
        </p:nvSpPr>
        <p:spPr>
          <a:xfrm>
            <a:off x="6172200" y="1825625"/>
            <a:ext cx="5181600" cy="435133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дати 4">
            <a:extLst>
              <a:ext uri="{FF2B5EF4-FFF2-40B4-BE49-F238E27FC236}">
                <a16:creationId xmlns:a16="http://schemas.microsoft.com/office/drawing/2014/main" id="{82F43E90-FFC8-264A-EDCD-91B6AD474C40}"/>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6" name="Місце для нижнього колонтитула 5">
            <a:extLst>
              <a:ext uri="{FF2B5EF4-FFF2-40B4-BE49-F238E27FC236}">
                <a16:creationId xmlns:a16="http://schemas.microsoft.com/office/drawing/2014/main" id="{7EBCD628-73EA-0115-FBBE-AD9925336DDE}"/>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C83DEB73-F7DD-B7EE-74CC-FB1A2FCC9D35}"/>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0790852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Порівняння">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F5C0CAD-4595-C80B-6A84-E3814CFE503D}"/>
              </a:ext>
            </a:extLst>
          </p:cNvPr>
          <p:cNvSpPr>
            <a:spLocks noGrp="1"/>
          </p:cNvSpPr>
          <p:nvPr>
            <p:ph type="title"/>
          </p:nvPr>
        </p:nvSpPr>
        <p:spPr>
          <a:xfrm>
            <a:off x="839788" y="365125"/>
            <a:ext cx="10515600" cy="1325563"/>
          </a:xfrm>
        </p:spPr>
        <p:txBody>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0080125E-BA8B-A542-63CD-D4F67EF7C1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4" name="Місце для вмісту 3">
            <a:extLst>
              <a:ext uri="{FF2B5EF4-FFF2-40B4-BE49-F238E27FC236}">
                <a16:creationId xmlns:a16="http://schemas.microsoft.com/office/drawing/2014/main" id="{02ADC938-FF2B-A025-AF8E-492954B42820}"/>
              </a:ext>
            </a:extLst>
          </p:cNvPr>
          <p:cNvSpPr>
            <a:spLocks noGrp="1"/>
          </p:cNvSpPr>
          <p:nvPr>
            <p:ph sz="half" idx="2"/>
          </p:nvPr>
        </p:nvSpPr>
        <p:spPr>
          <a:xfrm>
            <a:off x="839788" y="2505075"/>
            <a:ext cx="5157787"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5" name="Місце для тексту 4">
            <a:extLst>
              <a:ext uri="{FF2B5EF4-FFF2-40B4-BE49-F238E27FC236}">
                <a16:creationId xmlns:a16="http://schemas.microsoft.com/office/drawing/2014/main" id="{9AD5853A-404F-407F-EE52-8ECE5F1F2D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uk-UA"/>
              <a:t>Клацніть, щоб відредагувати стилі зразків тексту</a:t>
            </a:r>
          </a:p>
        </p:txBody>
      </p:sp>
      <p:sp>
        <p:nvSpPr>
          <p:cNvPr id="6" name="Місце для вмісту 5">
            <a:extLst>
              <a:ext uri="{FF2B5EF4-FFF2-40B4-BE49-F238E27FC236}">
                <a16:creationId xmlns:a16="http://schemas.microsoft.com/office/drawing/2014/main" id="{94BB0FD3-E2CF-231C-4359-C08C7B904591}"/>
              </a:ext>
            </a:extLst>
          </p:cNvPr>
          <p:cNvSpPr>
            <a:spLocks noGrp="1"/>
          </p:cNvSpPr>
          <p:nvPr>
            <p:ph sz="quarter" idx="4"/>
          </p:nvPr>
        </p:nvSpPr>
        <p:spPr>
          <a:xfrm>
            <a:off x="6172200" y="2505075"/>
            <a:ext cx="5183188" cy="3684588"/>
          </a:xfrm>
        </p:spPr>
        <p:txBody>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7" name="Місце для дати 6">
            <a:extLst>
              <a:ext uri="{FF2B5EF4-FFF2-40B4-BE49-F238E27FC236}">
                <a16:creationId xmlns:a16="http://schemas.microsoft.com/office/drawing/2014/main" id="{1BA92EE1-B001-F7B8-5752-D9A97FCADF2A}"/>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8" name="Місце для нижнього колонтитула 7">
            <a:extLst>
              <a:ext uri="{FF2B5EF4-FFF2-40B4-BE49-F238E27FC236}">
                <a16:creationId xmlns:a16="http://schemas.microsoft.com/office/drawing/2014/main" id="{EC10B8F7-2C13-1DDD-491E-9CB1455F668B}"/>
              </a:ext>
            </a:extLst>
          </p:cNvPr>
          <p:cNvSpPr>
            <a:spLocks noGrp="1"/>
          </p:cNvSpPr>
          <p:nvPr>
            <p:ph type="ftr" sz="quarter" idx="11"/>
          </p:nvPr>
        </p:nvSpPr>
        <p:spPr/>
        <p:txBody>
          <a:bodyPr/>
          <a:lstStyle/>
          <a:p>
            <a:endParaRPr lang="uk-UA"/>
          </a:p>
        </p:txBody>
      </p:sp>
      <p:sp>
        <p:nvSpPr>
          <p:cNvPr id="9" name="Місце для номера слайда 8">
            <a:extLst>
              <a:ext uri="{FF2B5EF4-FFF2-40B4-BE49-F238E27FC236}">
                <a16:creationId xmlns:a16="http://schemas.microsoft.com/office/drawing/2014/main" id="{EE54CC58-B8F7-22A8-6716-8572EA1F8A60}"/>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259216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Лише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FCCB6A-0E78-8028-D32E-951243B1B1C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дати 2">
            <a:extLst>
              <a:ext uri="{FF2B5EF4-FFF2-40B4-BE49-F238E27FC236}">
                <a16:creationId xmlns:a16="http://schemas.microsoft.com/office/drawing/2014/main" id="{A69E0789-9404-6D18-9DB8-39BF27F56CA3}"/>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4" name="Місце для нижнього колонтитула 3">
            <a:extLst>
              <a:ext uri="{FF2B5EF4-FFF2-40B4-BE49-F238E27FC236}">
                <a16:creationId xmlns:a16="http://schemas.microsoft.com/office/drawing/2014/main" id="{F62F37E2-6FEC-F4D5-15FE-C5DAC7E8B855}"/>
              </a:ext>
            </a:extLst>
          </p:cNvPr>
          <p:cNvSpPr>
            <a:spLocks noGrp="1"/>
          </p:cNvSpPr>
          <p:nvPr>
            <p:ph type="ftr" sz="quarter" idx="11"/>
          </p:nvPr>
        </p:nvSpPr>
        <p:spPr/>
        <p:txBody>
          <a:bodyPr/>
          <a:lstStyle/>
          <a:p>
            <a:endParaRPr lang="uk-UA"/>
          </a:p>
        </p:txBody>
      </p:sp>
      <p:sp>
        <p:nvSpPr>
          <p:cNvPr id="5" name="Місце для номера слайда 4">
            <a:extLst>
              <a:ext uri="{FF2B5EF4-FFF2-40B4-BE49-F238E27FC236}">
                <a16:creationId xmlns:a16="http://schemas.microsoft.com/office/drawing/2014/main" id="{9B9193C1-A71A-F282-6662-646D35B903C3}"/>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2223959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ий слайд">
    <p:spTree>
      <p:nvGrpSpPr>
        <p:cNvPr id="1" name=""/>
        <p:cNvGrpSpPr/>
        <p:nvPr/>
      </p:nvGrpSpPr>
      <p:grpSpPr>
        <a:xfrm>
          <a:off x="0" y="0"/>
          <a:ext cx="0" cy="0"/>
          <a:chOff x="0" y="0"/>
          <a:chExt cx="0" cy="0"/>
        </a:xfrm>
      </p:grpSpPr>
      <p:sp>
        <p:nvSpPr>
          <p:cNvPr id="2" name="Місце для дати 1">
            <a:extLst>
              <a:ext uri="{FF2B5EF4-FFF2-40B4-BE49-F238E27FC236}">
                <a16:creationId xmlns:a16="http://schemas.microsoft.com/office/drawing/2014/main" id="{8B44F76E-4F01-2BEE-4A24-619C89650CB9}"/>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3" name="Місце для нижнього колонтитула 2">
            <a:extLst>
              <a:ext uri="{FF2B5EF4-FFF2-40B4-BE49-F238E27FC236}">
                <a16:creationId xmlns:a16="http://schemas.microsoft.com/office/drawing/2014/main" id="{1D76FE96-998F-98E6-5CD4-741146BDEB21}"/>
              </a:ext>
            </a:extLst>
          </p:cNvPr>
          <p:cNvSpPr>
            <a:spLocks noGrp="1"/>
          </p:cNvSpPr>
          <p:nvPr>
            <p:ph type="ftr" sz="quarter" idx="11"/>
          </p:nvPr>
        </p:nvSpPr>
        <p:spPr/>
        <p:txBody>
          <a:bodyPr/>
          <a:lstStyle/>
          <a:p>
            <a:endParaRPr lang="uk-UA"/>
          </a:p>
        </p:txBody>
      </p:sp>
      <p:sp>
        <p:nvSpPr>
          <p:cNvPr id="4" name="Місце для номера слайда 3">
            <a:extLst>
              <a:ext uri="{FF2B5EF4-FFF2-40B4-BE49-F238E27FC236}">
                <a16:creationId xmlns:a16="http://schemas.microsoft.com/office/drawing/2014/main" id="{406C4228-F2B7-4C79-9209-C99859543B6E}"/>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34364404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Вміст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3EFB20-59D7-7448-FCB7-FD46E217F42E}"/>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вмісту 2">
            <a:extLst>
              <a:ext uri="{FF2B5EF4-FFF2-40B4-BE49-F238E27FC236}">
                <a16:creationId xmlns:a16="http://schemas.microsoft.com/office/drawing/2014/main" id="{1DF544FA-BCC1-2F9E-B22F-080504AAE04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тексту 3">
            <a:extLst>
              <a:ext uri="{FF2B5EF4-FFF2-40B4-BE49-F238E27FC236}">
                <a16:creationId xmlns:a16="http://schemas.microsoft.com/office/drawing/2014/main" id="{9AAACF0F-AB02-6263-C901-8B83B1DDFF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D483F92A-77DA-E6F9-C07D-6EEB4F483536}"/>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6" name="Місце для нижнього колонтитула 5">
            <a:extLst>
              <a:ext uri="{FF2B5EF4-FFF2-40B4-BE49-F238E27FC236}">
                <a16:creationId xmlns:a16="http://schemas.microsoft.com/office/drawing/2014/main" id="{03BE85E9-6AE5-5C3D-889C-FC5DDB4BCC3F}"/>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51372786-17E2-F8D7-9969-9893D5029F1B}"/>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1918952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і підпис">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199FCDF-CCFB-2DD9-01EC-D40D352A2403}"/>
              </a:ext>
            </a:extLst>
          </p:cNvPr>
          <p:cNvSpPr>
            <a:spLocks noGrp="1"/>
          </p:cNvSpPr>
          <p:nvPr>
            <p:ph type="title"/>
          </p:nvPr>
        </p:nvSpPr>
        <p:spPr>
          <a:xfrm>
            <a:off x="839788" y="457200"/>
            <a:ext cx="3932237" cy="1600200"/>
          </a:xfrm>
        </p:spPr>
        <p:txBody>
          <a:bodyPr anchor="b"/>
          <a:lstStyle>
            <a:lvl1pPr>
              <a:defRPr sz="3200"/>
            </a:lvl1pPr>
          </a:lstStyle>
          <a:p>
            <a:r>
              <a:rPr lang="uk-UA"/>
              <a:t>Клацніть, щоб редагувати стиль зразка заголовка</a:t>
            </a:r>
          </a:p>
        </p:txBody>
      </p:sp>
      <p:sp>
        <p:nvSpPr>
          <p:cNvPr id="3" name="Місце для зображення 2">
            <a:extLst>
              <a:ext uri="{FF2B5EF4-FFF2-40B4-BE49-F238E27FC236}">
                <a16:creationId xmlns:a16="http://schemas.microsoft.com/office/drawing/2014/main" id="{8CA42B2D-BD22-A694-5D29-EDCD7F1A515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uk-UA"/>
          </a:p>
        </p:txBody>
      </p:sp>
      <p:sp>
        <p:nvSpPr>
          <p:cNvPr id="4" name="Місце для тексту 3">
            <a:extLst>
              <a:ext uri="{FF2B5EF4-FFF2-40B4-BE49-F238E27FC236}">
                <a16:creationId xmlns:a16="http://schemas.microsoft.com/office/drawing/2014/main" id="{1E3345FC-3BB8-71B1-61EA-1042D559D4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uk-UA"/>
              <a:t>Клацніть, щоб відредагувати стилі зразків тексту</a:t>
            </a:r>
          </a:p>
        </p:txBody>
      </p:sp>
      <p:sp>
        <p:nvSpPr>
          <p:cNvPr id="5" name="Місце для дати 4">
            <a:extLst>
              <a:ext uri="{FF2B5EF4-FFF2-40B4-BE49-F238E27FC236}">
                <a16:creationId xmlns:a16="http://schemas.microsoft.com/office/drawing/2014/main" id="{0151F15F-CAF5-7E97-5C7E-F1BDCC2D8DEC}"/>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6" name="Місце для нижнього колонтитула 5">
            <a:extLst>
              <a:ext uri="{FF2B5EF4-FFF2-40B4-BE49-F238E27FC236}">
                <a16:creationId xmlns:a16="http://schemas.microsoft.com/office/drawing/2014/main" id="{CDD88369-E63B-2F01-A5FF-9FF05F209448}"/>
              </a:ext>
            </a:extLst>
          </p:cNvPr>
          <p:cNvSpPr>
            <a:spLocks noGrp="1"/>
          </p:cNvSpPr>
          <p:nvPr>
            <p:ph type="ftr" sz="quarter" idx="11"/>
          </p:nvPr>
        </p:nvSpPr>
        <p:spPr/>
        <p:txBody>
          <a:bodyPr/>
          <a:lstStyle/>
          <a:p>
            <a:endParaRPr lang="uk-UA"/>
          </a:p>
        </p:txBody>
      </p:sp>
      <p:sp>
        <p:nvSpPr>
          <p:cNvPr id="7" name="Місце для номера слайда 6">
            <a:extLst>
              <a:ext uri="{FF2B5EF4-FFF2-40B4-BE49-F238E27FC236}">
                <a16:creationId xmlns:a16="http://schemas.microsoft.com/office/drawing/2014/main" id="{66CA99F1-EFA9-AE9C-7170-9E18CFDE2026}"/>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1874835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і вертикальни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B18A63A-66A2-8FF7-5418-83EFE7AC21FB}"/>
              </a:ext>
            </a:extLst>
          </p:cNvPr>
          <p:cNvSpPr>
            <a:spLocks noGrp="1"/>
          </p:cNvSpPr>
          <p:nvPr>
            <p:ph type="title"/>
          </p:nvPr>
        </p:nvSpPr>
        <p:spPr/>
        <p:txBody>
          <a:bodyPr/>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CC8A1095-1A21-FD69-9C50-AB6EF3146D21}"/>
              </a:ext>
            </a:extLst>
          </p:cNvPr>
          <p:cNvSpPr>
            <a:spLocks noGrp="1"/>
          </p:cNvSpPr>
          <p:nvPr>
            <p:ph type="body" orient="vert" idx="1"/>
          </p:nvPr>
        </p:nvSpPr>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A781E44F-57CE-B5E4-2D78-E57029E29098}"/>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31D589B9-2426-231B-219A-33E132C8AEB5}"/>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11044DB9-9414-357D-0074-C83EB8EFFEF7}"/>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14206072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ий заголовок і текст">
    <p:spTree>
      <p:nvGrpSpPr>
        <p:cNvPr id="1" name=""/>
        <p:cNvGrpSpPr/>
        <p:nvPr/>
      </p:nvGrpSpPr>
      <p:grpSpPr>
        <a:xfrm>
          <a:off x="0" y="0"/>
          <a:ext cx="0" cy="0"/>
          <a:chOff x="0" y="0"/>
          <a:chExt cx="0" cy="0"/>
        </a:xfrm>
      </p:grpSpPr>
      <p:sp>
        <p:nvSpPr>
          <p:cNvPr id="2" name="Вертикальний заголовок 1">
            <a:extLst>
              <a:ext uri="{FF2B5EF4-FFF2-40B4-BE49-F238E27FC236}">
                <a16:creationId xmlns:a16="http://schemas.microsoft.com/office/drawing/2014/main" id="{F71A3395-1374-1262-8451-CD177D594653}"/>
              </a:ext>
            </a:extLst>
          </p:cNvPr>
          <p:cNvSpPr>
            <a:spLocks noGrp="1"/>
          </p:cNvSpPr>
          <p:nvPr>
            <p:ph type="title" orient="vert"/>
          </p:nvPr>
        </p:nvSpPr>
        <p:spPr>
          <a:xfrm>
            <a:off x="8724900" y="365125"/>
            <a:ext cx="2628900" cy="5811838"/>
          </a:xfrm>
        </p:spPr>
        <p:txBody>
          <a:bodyPr vert="eaVert"/>
          <a:lstStyle/>
          <a:p>
            <a:r>
              <a:rPr lang="uk-UA"/>
              <a:t>Клацніть, щоб редагувати стиль зразка заголовка</a:t>
            </a:r>
          </a:p>
        </p:txBody>
      </p:sp>
      <p:sp>
        <p:nvSpPr>
          <p:cNvPr id="3" name="Місце для вертикального тексту 2">
            <a:extLst>
              <a:ext uri="{FF2B5EF4-FFF2-40B4-BE49-F238E27FC236}">
                <a16:creationId xmlns:a16="http://schemas.microsoft.com/office/drawing/2014/main" id="{27C88A85-63CD-0A40-69FC-2D22F79842C2}"/>
              </a:ext>
            </a:extLst>
          </p:cNvPr>
          <p:cNvSpPr>
            <a:spLocks noGrp="1"/>
          </p:cNvSpPr>
          <p:nvPr>
            <p:ph type="body" orient="vert" idx="1"/>
          </p:nvPr>
        </p:nvSpPr>
        <p:spPr>
          <a:xfrm>
            <a:off x="838200" y="365125"/>
            <a:ext cx="7734300" cy="5811838"/>
          </a:xfrm>
        </p:spPr>
        <p:txBody>
          <a:bodyPr vert="eaVert"/>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98841372-3A57-52EC-B446-5FC955BA8162}"/>
              </a:ext>
            </a:extLst>
          </p:cNvPr>
          <p:cNvSpPr>
            <a:spLocks noGrp="1"/>
          </p:cNvSpPr>
          <p:nvPr>
            <p:ph type="dt" sz="half" idx="10"/>
          </p:nvPr>
        </p:nvSpPr>
        <p:spPr/>
        <p:txBody>
          <a:body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1A9AAE51-B739-23BB-006D-589F830DDBF2}"/>
              </a:ext>
            </a:extLst>
          </p:cNvPr>
          <p:cNvSpPr>
            <a:spLocks noGrp="1"/>
          </p:cNvSpPr>
          <p:nvPr>
            <p:ph type="ftr" sz="quarter" idx="11"/>
          </p:nvPr>
        </p:nvSpPr>
        <p:spPr/>
        <p:txBody>
          <a:bodyPr/>
          <a:lstStyle/>
          <a:p>
            <a:endParaRPr lang="uk-UA"/>
          </a:p>
        </p:txBody>
      </p:sp>
      <p:sp>
        <p:nvSpPr>
          <p:cNvPr id="6" name="Місце для номера слайда 5">
            <a:extLst>
              <a:ext uri="{FF2B5EF4-FFF2-40B4-BE49-F238E27FC236}">
                <a16:creationId xmlns:a16="http://schemas.microsoft.com/office/drawing/2014/main" id="{34F33C29-DB86-C8C1-5C09-F1412843EEE0}"/>
              </a:ext>
            </a:extLst>
          </p:cNvPr>
          <p:cNvSpPr>
            <a:spLocks noGrp="1"/>
          </p:cNvSpPr>
          <p:nvPr>
            <p:ph type="sldNum" sz="quarter" idx="12"/>
          </p:nvPr>
        </p:nvSpPr>
        <p:spPr/>
        <p:txBody>
          <a:bodyPr/>
          <a:lstStyle/>
          <a:p>
            <a:fld id="{D539FE38-3699-4004-A4E3-2D5F424C1CEA}" type="slidenum">
              <a:rPr lang="uk-UA" smtClean="0"/>
              <a:t>‹№›</a:t>
            </a:fld>
            <a:endParaRPr lang="uk-UA"/>
          </a:p>
        </p:txBody>
      </p:sp>
    </p:spTree>
    <p:extLst>
      <p:ext uri="{BB962C8B-B14F-4D97-AF65-F5344CB8AC3E}">
        <p14:creationId xmlns:p14="http://schemas.microsoft.com/office/powerpoint/2010/main" val="40898874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Місце для заголовка 1">
            <a:extLst>
              <a:ext uri="{FF2B5EF4-FFF2-40B4-BE49-F238E27FC236}">
                <a16:creationId xmlns:a16="http://schemas.microsoft.com/office/drawing/2014/main" id="{739E64FB-88ED-EEC8-E86B-80564D4B2E5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uk-UA"/>
              <a:t>Клацніть, щоб редагувати стиль зразка заголовка</a:t>
            </a:r>
          </a:p>
        </p:txBody>
      </p:sp>
      <p:sp>
        <p:nvSpPr>
          <p:cNvPr id="3" name="Місце для тексту 2">
            <a:extLst>
              <a:ext uri="{FF2B5EF4-FFF2-40B4-BE49-F238E27FC236}">
                <a16:creationId xmlns:a16="http://schemas.microsoft.com/office/drawing/2014/main" id="{488395D4-DA3F-A7E5-0131-524B6D1498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uk-UA"/>
              <a:t>Клацніть, щоб відредагувати стилі зразків тексту</a:t>
            </a:r>
          </a:p>
          <a:p>
            <a:pPr lvl="1"/>
            <a:r>
              <a:rPr lang="uk-UA"/>
              <a:t>Другий рівень</a:t>
            </a:r>
          </a:p>
          <a:p>
            <a:pPr lvl="2"/>
            <a:r>
              <a:rPr lang="uk-UA"/>
              <a:t>Третій рівень</a:t>
            </a:r>
          </a:p>
          <a:p>
            <a:pPr lvl="3"/>
            <a:r>
              <a:rPr lang="uk-UA"/>
              <a:t>Четвертий рівень</a:t>
            </a:r>
          </a:p>
          <a:p>
            <a:pPr lvl="4"/>
            <a:r>
              <a:rPr lang="uk-UA"/>
              <a:t>П’ятий рівень</a:t>
            </a:r>
          </a:p>
        </p:txBody>
      </p:sp>
      <p:sp>
        <p:nvSpPr>
          <p:cNvPr id="4" name="Місце для дати 3">
            <a:extLst>
              <a:ext uri="{FF2B5EF4-FFF2-40B4-BE49-F238E27FC236}">
                <a16:creationId xmlns:a16="http://schemas.microsoft.com/office/drawing/2014/main" id="{EB1DCB21-404F-09E5-F461-3ACE08D7815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0A28E7-03AE-4245-864C-B2A53D6B27C7}" type="datetimeFigureOut">
              <a:rPr lang="uk-UA" smtClean="0"/>
              <a:t>20.07.2026</a:t>
            </a:fld>
            <a:endParaRPr lang="uk-UA"/>
          </a:p>
        </p:txBody>
      </p:sp>
      <p:sp>
        <p:nvSpPr>
          <p:cNvPr id="5" name="Місце для нижнього колонтитула 4">
            <a:extLst>
              <a:ext uri="{FF2B5EF4-FFF2-40B4-BE49-F238E27FC236}">
                <a16:creationId xmlns:a16="http://schemas.microsoft.com/office/drawing/2014/main" id="{D0ACD6C1-C5C8-6AFF-769A-51FEF308990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uk-UA"/>
          </a:p>
        </p:txBody>
      </p:sp>
      <p:sp>
        <p:nvSpPr>
          <p:cNvPr id="6" name="Місце для номера слайда 5">
            <a:extLst>
              <a:ext uri="{FF2B5EF4-FFF2-40B4-BE49-F238E27FC236}">
                <a16:creationId xmlns:a16="http://schemas.microsoft.com/office/drawing/2014/main" id="{42431360-13C9-2B37-F4E6-6E032AFC72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39FE38-3699-4004-A4E3-2D5F424C1CEA}" type="slidenum">
              <a:rPr lang="uk-UA" smtClean="0"/>
              <a:t>‹№›</a:t>
            </a:fld>
            <a:endParaRPr lang="uk-UA"/>
          </a:p>
        </p:txBody>
      </p:sp>
    </p:spTree>
    <p:extLst>
      <p:ext uri="{BB962C8B-B14F-4D97-AF65-F5344CB8AC3E}">
        <p14:creationId xmlns:p14="http://schemas.microsoft.com/office/powerpoint/2010/main" val="3099523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uk-UA"/>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11.xml"/><Relationship Id="rId3" Type="http://schemas.openxmlformats.org/officeDocument/2006/relationships/slide" Target="slide3.xml"/><Relationship Id="rId7" Type="http://schemas.openxmlformats.org/officeDocument/2006/relationships/slide" Target="slide7.xml"/><Relationship Id="rId2"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 Target="slide6.xml"/><Relationship Id="rId5" Type="http://schemas.openxmlformats.org/officeDocument/2006/relationships/slide" Target="slide5.xml"/><Relationship Id="rId10" Type="http://schemas.openxmlformats.org/officeDocument/2006/relationships/slide" Target="slide13.xml"/><Relationship Id="rId4" Type="http://schemas.openxmlformats.org/officeDocument/2006/relationships/slide" Target="slide4.xml"/><Relationship Id="rId9" Type="http://schemas.openxmlformats.org/officeDocument/2006/relationships/slide" Target="slide1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arehouse-app-client-new.onrender.com/"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ww.linkedin.com/in/marko-haiduk-0725893b7/?locale=en" TargetMode="External"/><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hyperlink" Target="https://github.com/haidukm95-byte/"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C6AD5-0BD2-637E-E748-ABAE306A489E}"/>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F5D75242-0C45-0945-3D6E-F72EC195CD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2F60B5CD-8148-29ED-0BEF-ADF43C370AE4}"/>
              </a:ext>
            </a:extLst>
          </p:cNvPr>
          <p:cNvSpPr>
            <a:spLocks noGrp="1"/>
          </p:cNvSpPr>
          <p:nvPr>
            <p:ph type="ctrTitle"/>
          </p:nvPr>
        </p:nvSpPr>
        <p:spPr>
          <a:xfrm>
            <a:off x="1524000" y="1490125"/>
            <a:ext cx="9144000" cy="1023425"/>
          </a:xfrm>
          <a:solidFill>
            <a:srgbClr val="FFFFFF">
              <a:alpha val="50196"/>
            </a:srgbClr>
          </a:solidFill>
        </p:spPr>
        <p:txBody>
          <a:bodyPr/>
          <a:lstStyle/>
          <a:p>
            <a:r>
              <a:rPr lang="en-US" b="1" dirty="0">
                <a:solidFill>
                  <a:srgbClr val="FF0000"/>
                </a:solidFill>
              </a:rPr>
              <a:t>WAREHOUSE APP v 1.0</a:t>
            </a:r>
            <a:endParaRPr lang="uk-UA" b="1" dirty="0">
              <a:solidFill>
                <a:srgbClr val="FF0000"/>
              </a:solidFill>
            </a:endParaRPr>
          </a:p>
        </p:txBody>
      </p:sp>
      <p:sp>
        <p:nvSpPr>
          <p:cNvPr id="3" name="Підзаголовок 2">
            <a:extLst>
              <a:ext uri="{FF2B5EF4-FFF2-40B4-BE49-F238E27FC236}">
                <a16:creationId xmlns:a16="http://schemas.microsoft.com/office/drawing/2014/main" id="{057ABB0C-5263-BEF1-49EC-D46F300A564D}"/>
              </a:ext>
            </a:extLst>
          </p:cNvPr>
          <p:cNvSpPr>
            <a:spLocks noGrp="1"/>
          </p:cNvSpPr>
          <p:nvPr>
            <p:ph type="subTitle" idx="1"/>
          </p:nvPr>
        </p:nvSpPr>
        <p:spPr>
          <a:xfrm>
            <a:off x="419686" y="6144065"/>
            <a:ext cx="11352628" cy="559190"/>
          </a:xfrm>
          <a:solidFill>
            <a:srgbClr val="FFFFFF">
              <a:alpha val="40000"/>
            </a:srgbClr>
          </a:solidFill>
        </p:spPr>
        <p:txBody>
          <a:bodyPr/>
          <a:lstStyle/>
          <a:p>
            <a:r>
              <a:rPr lang="en-US" dirty="0"/>
              <a:t>Author: Marko Haiduk AKA avg9999. 2026, all rights reserved</a:t>
            </a:r>
            <a:endParaRPr lang="uk-UA" dirty="0"/>
          </a:p>
        </p:txBody>
      </p:sp>
    </p:spTree>
    <p:extLst>
      <p:ext uri="{BB962C8B-B14F-4D97-AF65-F5344CB8AC3E}">
        <p14:creationId xmlns:p14="http://schemas.microsoft.com/office/powerpoint/2010/main" val="250364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96B066-80D4-8AEB-9E37-55B5B2029A0C}"/>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5ABEC776-4CF7-193E-B27F-31C288B053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A962BE28-BE57-0699-07A3-9272BA396D8F}"/>
              </a:ext>
            </a:extLst>
          </p:cNvPr>
          <p:cNvSpPr>
            <a:spLocks noGrp="1"/>
          </p:cNvSpPr>
          <p:nvPr>
            <p:ph type="ctrTitle"/>
          </p:nvPr>
        </p:nvSpPr>
        <p:spPr>
          <a:xfrm>
            <a:off x="264827" y="154745"/>
            <a:ext cx="2343462" cy="714685"/>
          </a:xfrm>
          <a:solidFill>
            <a:srgbClr val="FFFFFF">
              <a:alpha val="50196"/>
            </a:srgbClr>
          </a:solidFill>
        </p:spPr>
        <p:txBody>
          <a:bodyPr>
            <a:normAutofit/>
          </a:bodyPr>
          <a:lstStyle/>
          <a:p>
            <a:r>
              <a:rPr lang="en-US" sz="3600" b="1" dirty="0">
                <a:solidFill>
                  <a:srgbClr val="FF0000"/>
                </a:solidFill>
              </a:rPr>
              <a:t>Navigation</a:t>
            </a:r>
            <a:endParaRPr lang="uk-UA" sz="3600" b="1" dirty="0">
              <a:solidFill>
                <a:srgbClr val="FF0000"/>
              </a:solidFill>
            </a:endParaRPr>
          </a:p>
        </p:txBody>
      </p:sp>
      <p:sp>
        <p:nvSpPr>
          <p:cNvPr id="8" name="Місце для вмісту 7">
            <a:extLst>
              <a:ext uri="{FF2B5EF4-FFF2-40B4-BE49-F238E27FC236}">
                <a16:creationId xmlns:a16="http://schemas.microsoft.com/office/drawing/2014/main" id="{F34B4B13-7622-570A-0702-5637A79C0AAE}"/>
              </a:ext>
            </a:extLst>
          </p:cNvPr>
          <p:cNvSpPr txBox="1">
            <a:spLocks/>
          </p:cNvSpPr>
          <p:nvPr/>
        </p:nvSpPr>
        <p:spPr>
          <a:xfrm>
            <a:off x="264827" y="1026192"/>
            <a:ext cx="5629536" cy="4136651"/>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sz="2200" dirty="0">
                <a:hlinkClick r:id="rId3" action="ppaction://hlinksldjump">
                  <a:extLst>
                    <a:ext uri="{A12FA001-AC4F-418D-AE19-62706E023703}">
                      <ahyp:hlinkClr xmlns:ahyp="http://schemas.microsoft.com/office/drawing/2018/hyperlinkcolor" val="tx"/>
                    </a:ext>
                  </a:extLst>
                </a:hlinkClick>
              </a:rPr>
              <a:t>1. What is this, main purpose, key motivation to create it and the app`s main concept</a:t>
            </a:r>
            <a:endParaRPr lang="en-US" sz="2200" dirty="0"/>
          </a:p>
          <a:p>
            <a:pPr marL="342900" indent="-342900" algn="l">
              <a:buFont typeface="Arial" panose="020B0604020202020204" pitchFamily="34" charset="0"/>
              <a:buChar char="•"/>
            </a:pPr>
            <a:r>
              <a:rPr lang="en-US" sz="2200" dirty="0">
                <a:hlinkClick r:id="rId4" action="ppaction://hlinksldjump">
                  <a:extLst>
                    <a:ext uri="{A12FA001-AC4F-418D-AE19-62706E023703}">
                      <ahyp:hlinkClr xmlns:ahyp="http://schemas.microsoft.com/office/drawing/2018/hyperlinkcolor" val="tx"/>
                    </a:ext>
                  </a:extLst>
                </a:hlinkClick>
              </a:rPr>
              <a:t>2. How does it work?</a:t>
            </a:r>
            <a:endParaRPr lang="en-US" sz="2200" dirty="0"/>
          </a:p>
          <a:p>
            <a:pPr marL="342900" indent="-342900" algn="l">
              <a:buFont typeface="Arial" panose="020B0604020202020204" pitchFamily="34" charset="0"/>
              <a:buChar char="•"/>
            </a:pPr>
            <a:r>
              <a:rPr lang="en-US" sz="2200" dirty="0">
                <a:hlinkClick r:id="rId5" action="ppaction://hlinksldjump">
                  <a:extLst>
                    <a:ext uri="{A12FA001-AC4F-418D-AE19-62706E023703}">
                      <ahyp:hlinkClr xmlns:ahyp="http://schemas.microsoft.com/office/drawing/2018/hyperlinkcolor" val="tx"/>
                    </a:ext>
                  </a:extLst>
                </a:hlinkClick>
              </a:rPr>
              <a:t>3. Potential users</a:t>
            </a:r>
            <a:endParaRPr lang="en-US" sz="2200" dirty="0"/>
          </a:p>
          <a:p>
            <a:pPr marL="342900" indent="-342900" algn="l">
              <a:buFont typeface="Arial" panose="020B0604020202020204" pitchFamily="34" charset="0"/>
              <a:buChar char="•"/>
            </a:pPr>
            <a:r>
              <a:rPr lang="en-US" sz="2200" dirty="0">
                <a:hlinkClick r:id="rId6" action="ppaction://hlinksldjump">
                  <a:extLst>
                    <a:ext uri="{A12FA001-AC4F-418D-AE19-62706E023703}">
                      <ahyp:hlinkClr xmlns:ahyp="http://schemas.microsoft.com/office/drawing/2018/hyperlinkcolor" val="tx"/>
                    </a:ext>
                  </a:extLst>
                </a:hlinkClick>
              </a:rPr>
              <a:t>4. Demonstration</a:t>
            </a:r>
            <a:endParaRPr lang="en-US" sz="2200" dirty="0"/>
          </a:p>
          <a:p>
            <a:pPr marL="342900" indent="-342900" algn="l">
              <a:buFont typeface="Arial" panose="020B0604020202020204" pitchFamily="34" charset="0"/>
              <a:buChar char="•"/>
            </a:pPr>
            <a:r>
              <a:rPr lang="en-US" sz="2200" dirty="0">
                <a:hlinkClick r:id="rId7" action="ppaction://hlinksldjump">
                  <a:extLst>
                    <a:ext uri="{A12FA001-AC4F-418D-AE19-62706E023703}">
                      <ahyp:hlinkClr xmlns:ahyp="http://schemas.microsoft.com/office/drawing/2018/hyperlinkcolor" val="tx"/>
                    </a:ext>
                  </a:extLst>
                </a:hlinkClick>
              </a:rPr>
              <a:t>5. Challenges faced and their solutions</a:t>
            </a:r>
            <a:endParaRPr lang="en-US" sz="2200" dirty="0"/>
          </a:p>
          <a:p>
            <a:pPr marL="342900" indent="-342900" algn="l">
              <a:buFont typeface="Arial" panose="020B0604020202020204" pitchFamily="34" charset="0"/>
              <a:buChar char="•"/>
            </a:pPr>
            <a:r>
              <a:rPr lang="en-US" sz="2200" dirty="0">
                <a:hlinkClick r:id="rId8" action="ppaction://hlinksldjump">
                  <a:extLst>
                    <a:ext uri="{A12FA001-AC4F-418D-AE19-62706E023703}">
                      <ahyp:hlinkClr xmlns:ahyp="http://schemas.microsoft.com/office/drawing/2018/hyperlinkcolor" val="tx"/>
                    </a:ext>
                  </a:extLst>
                </a:hlinkClick>
              </a:rPr>
              <a:t>6. Future steps</a:t>
            </a:r>
            <a:endParaRPr lang="en-US" sz="2200" dirty="0"/>
          </a:p>
          <a:p>
            <a:pPr marL="342900" indent="-342900" algn="l">
              <a:buFont typeface="Arial" panose="020B0604020202020204" pitchFamily="34" charset="0"/>
              <a:buChar char="•"/>
            </a:pPr>
            <a:r>
              <a:rPr lang="en-US" sz="2200" dirty="0">
                <a:hlinkClick r:id="rId9" action="ppaction://hlinksldjump">
                  <a:extLst>
                    <a:ext uri="{A12FA001-AC4F-418D-AE19-62706E023703}">
                      <ahyp:hlinkClr xmlns:ahyp="http://schemas.microsoft.com/office/drawing/2018/hyperlinkcolor" val="tx"/>
                    </a:ext>
                  </a:extLst>
                </a:hlinkClick>
              </a:rPr>
              <a:t>7. Summary points</a:t>
            </a:r>
            <a:endParaRPr lang="en-US" sz="2200" dirty="0"/>
          </a:p>
          <a:p>
            <a:pPr marL="342900" indent="-342900" algn="l">
              <a:buFont typeface="Arial" panose="020B0604020202020204" pitchFamily="34" charset="0"/>
              <a:buChar char="•"/>
            </a:pPr>
            <a:r>
              <a:rPr lang="en-US" sz="2200" dirty="0">
                <a:hlinkClick r:id="rId10" action="ppaction://hlinksldjump">
                  <a:extLst>
                    <a:ext uri="{A12FA001-AC4F-418D-AE19-62706E023703}">
                      <ahyp:hlinkClr xmlns:ahyp="http://schemas.microsoft.com/office/drawing/2018/hyperlinkcolor" val="tx"/>
                    </a:ext>
                  </a:extLst>
                </a:hlinkClick>
              </a:rPr>
              <a:t>8. Conclusions</a:t>
            </a:r>
            <a:endParaRPr lang="en-US" sz="2200" dirty="0">
              <a:hlinkClick r:id="rId6" action="ppaction://hlinksldjump">
                <a:extLst>
                  <a:ext uri="{A12FA001-AC4F-418D-AE19-62706E023703}">
                    <ahyp:hlinkClr xmlns:ahyp="http://schemas.microsoft.com/office/drawing/2018/hyperlinkcolor" val="tx"/>
                  </a:ext>
                </a:extLst>
              </a:hlinkClick>
            </a:endParaRPr>
          </a:p>
          <a:p>
            <a:pPr marL="342900" indent="-342900" algn="l">
              <a:buFont typeface="Arial" panose="020B0604020202020204" pitchFamily="34" charset="0"/>
              <a:buChar char="•"/>
            </a:pPr>
            <a:endParaRPr lang="en-US" dirty="0"/>
          </a:p>
        </p:txBody>
      </p:sp>
    </p:spTree>
    <p:extLst>
      <p:ext uri="{BB962C8B-B14F-4D97-AF65-F5344CB8AC3E}">
        <p14:creationId xmlns:p14="http://schemas.microsoft.com/office/powerpoint/2010/main" val="21161786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AC81E-D379-2B83-0B09-995691E738BA}"/>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EFC4A5BF-0040-AC99-FAE6-A29E56A8FE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solidFill>
            <a:srgbClr val="FFFFFF"/>
          </a:solidFill>
        </p:spPr>
      </p:pic>
      <p:sp>
        <p:nvSpPr>
          <p:cNvPr id="8" name="Місце для вмісту 7">
            <a:extLst>
              <a:ext uri="{FF2B5EF4-FFF2-40B4-BE49-F238E27FC236}">
                <a16:creationId xmlns:a16="http://schemas.microsoft.com/office/drawing/2014/main" id="{C086720B-2597-A39E-5817-EE19B3D2B626}"/>
              </a:ext>
            </a:extLst>
          </p:cNvPr>
          <p:cNvSpPr>
            <a:spLocks noGrp="1"/>
          </p:cNvSpPr>
          <p:nvPr>
            <p:ph idx="1"/>
          </p:nvPr>
        </p:nvSpPr>
        <p:spPr>
          <a:xfrm>
            <a:off x="838200" y="1467654"/>
            <a:ext cx="10515600" cy="4963128"/>
          </a:xfrm>
          <a:solidFill>
            <a:srgbClr val="FFFFFF">
              <a:alpha val="40000"/>
            </a:srgbClr>
          </a:solidFill>
        </p:spPr>
        <p:txBody>
          <a:bodyPr>
            <a:normAutofit lnSpcReduction="10000"/>
          </a:bodyPr>
          <a:lstStyle/>
          <a:p>
            <a:r>
              <a:rPr lang="en-US" dirty="0"/>
              <a:t>The application for warehouse logistics and inventory operations performing.</a:t>
            </a:r>
          </a:p>
          <a:p>
            <a:r>
              <a:rPr lang="en-US" dirty="0"/>
              <a:t>Suitable for small warehouses (up to 10-15 personnel).</a:t>
            </a:r>
          </a:p>
          <a:p>
            <a:r>
              <a:rPr lang="en-US" dirty="0"/>
              <a:t>The key motivation was to create a quick and user-friendly platform which, with further updates, will be able to compete with professional logistics apps (such as ERP), and to let each employee immediately update goods logistics from his own device.</a:t>
            </a:r>
          </a:p>
          <a:p>
            <a:r>
              <a:rPr lang="en-US" b="1" dirty="0"/>
              <a:t>The main solution implemented for the app functionality, is coding all the calculation operations and permission/restriction functions and triggers directly in </a:t>
            </a:r>
            <a:r>
              <a:rPr lang="en-US" b="1" dirty="0">
                <a:solidFill>
                  <a:srgbClr val="FF0000"/>
                </a:solidFill>
              </a:rPr>
              <a:t>SQL database, which is the main storage of all the app`s data. </a:t>
            </a:r>
            <a:r>
              <a:rPr lang="en-US" b="1" dirty="0"/>
              <a:t>It unloads the vast amount of code off the Backend models, controllers and routes.</a:t>
            </a:r>
            <a:endParaRPr lang="en-US" b="1" dirty="0">
              <a:solidFill>
                <a:srgbClr val="FF0000"/>
              </a:solidFill>
            </a:endParaRPr>
          </a:p>
          <a:p>
            <a:endParaRPr lang="en-US" dirty="0"/>
          </a:p>
          <a:p>
            <a:pPr marL="0" indent="0">
              <a:buNone/>
            </a:pPr>
            <a:endParaRPr lang="uk-UA" dirty="0"/>
          </a:p>
        </p:txBody>
      </p:sp>
      <p:sp>
        <p:nvSpPr>
          <p:cNvPr id="2" name="Заголовок 1">
            <a:extLst>
              <a:ext uri="{FF2B5EF4-FFF2-40B4-BE49-F238E27FC236}">
                <a16:creationId xmlns:a16="http://schemas.microsoft.com/office/drawing/2014/main" id="{772314A0-30D4-4317-5E05-E41381B82AAC}"/>
              </a:ext>
            </a:extLst>
          </p:cNvPr>
          <p:cNvSpPr txBox="1">
            <a:spLocks/>
          </p:cNvSpPr>
          <p:nvPr/>
        </p:nvSpPr>
        <p:spPr>
          <a:xfrm>
            <a:off x="838200" y="225083"/>
            <a:ext cx="9829800" cy="1109042"/>
          </a:xfrm>
          <a:prstGeom prst="rect">
            <a:avLst/>
          </a:prstGeom>
          <a:solidFill>
            <a:srgbClr val="FFFFFF">
              <a:alpha val="40000"/>
            </a:srgbClr>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b="1" dirty="0"/>
              <a:t>1. What is this, main purpose, key motivation to create it and the app`s main solution.</a:t>
            </a:r>
            <a:endParaRPr lang="uk-UA" sz="4000" b="1" dirty="0"/>
          </a:p>
        </p:txBody>
      </p:sp>
    </p:spTree>
    <p:extLst>
      <p:ext uri="{BB962C8B-B14F-4D97-AF65-F5344CB8AC3E}">
        <p14:creationId xmlns:p14="http://schemas.microsoft.com/office/powerpoint/2010/main" val="30672127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Рисунок 4">
            <a:extLst>
              <a:ext uri="{FF2B5EF4-FFF2-40B4-BE49-F238E27FC236}">
                <a16:creationId xmlns:a16="http://schemas.microsoft.com/office/drawing/2014/main" id="{5CF4031B-666F-D3E7-E6D6-C5481A3479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3E7F6454-D92E-C78E-10C2-F73067CCB146}"/>
              </a:ext>
            </a:extLst>
          </p:cNvPr>
          <p:cNvSpPr>
            <a:spLocks noGrp="1"/>
          </p:cNvSpPr>
          <p:nvPr>
            <p:ph type="ctrTitle"/>
          </p:nvPr>
        </p:nvSpPr>
        <p:spPr>
          <a:xfrm>
            <a:off x="1524000" y="225083"/>
            <a:ext cx="9144000" cy="749813"/>
          </a:xfrm>
          <a:solidFill>
            <a:srgbClr val="FFFFFF">
              <a:alpha val="40000"/>
            </a:srgbClr>
          </a:solidFill>
        </p:spPr>
        <p:txBody>
          <a:bodyPr>
            <a:normAutofit/>
          </a:bodyPr>
          <a:lstStyle/>
          <a:p>
            <a:r>
              <a:rPr lang="en-US" sz="4000" b="1" dirty="0"/>
              <a:t>2. How does it work?</a:t>
            </a:r>
            <a:endParaRPr lang="uk-UA" sz="4000" b="1" dirty="0"/>
          </a:p>
        </p:txBody>
      </p:sp>
      <p:sp>
        <p:nvSpPr>
          <p:cNvPr id="3" name="Підзаголовок 2">
            <a:extLst>
              <a:ext uri="{FF2B5EF4-FFF2-40B4-BE49-F238E27FC236}">
                <a16:creationId xmlns:a16="http://schemas.microsoft.com/office/drawing/2014/main" id="{C62733FF-5389-9F44-70FD-276FCA67B137}"/>
              </a:ext>
            </a:extLst>
          </p:cNvPr>
          <p:cNvSpPr>
            <a:spLocks noGrp="1"/>
          </p:cNvSpPr>
          <p:nvPr>
            <p:ph type="subTitle" idx="1"/>
          </p:nvPr>
        </p:nvSpPr>
        <p:spPr>
          <a:xfrm>
            <a:off x="1524000" y="1199979"/>
            <a:ext cx="9144000" cy="5432938"/>
          </a:xfrm>
          <a:solidFill>
            <a:srgbClr val="FFFFFF">
              <a:alpha val="40000"/>
            </a:srgbClr>
          </a:solidFill>
        </p:spPr>
        <p:txBody>
          <a:bodyPr/>
          <a:lstStyle/>
          <a:p>
            <a:pPr algn="l"/>
            <a:r>
              <a:rPr lang="en-US" dirty="0"/>
              <a:t>The app is multi-user and permits to each warehouse employee to log in to his personal account. The initial login credentials and employee data are created by a manager, then it remains possible to adjust personal password.</a:t>
            </a:r>
          </a:p>
          <a:p>
            <a:pPr algn="l"/>
            <a:r>
              <a:rPr lang="en-US" dirty="0"/>
              <a:t>The employees are divided into three classes:</a:t>
            </a:r>
          </a:p>
          <a:p>
            <a:pPr algn="l"/>
            <a:r>
              <a:rPr lang="en-US" dirty="0"/>
              <a:t> - Manager: has full access to all types of logistics operations, goods registry items adding and updating, personnel info editing.</a:t>
            </a:r>
          </a:p>
          <a:p>
            <a:pPr algn="l"/>
            <a:r>
              <a:rPr lang="en-US" dirty="0"/>
              <a:t> - Receiver: has full access to all types of logistics operations, without permission to edit goods data and employees info.</a:t>
            </a:r>
          </a:p>
          <a:p>
            <a:pPr algn="l"/>
            <a:r>
              <a:rPr lang="en-US" dirty="0"/>
              <a:t> - General worker: restricted only to perform goods departure/utilization operation (with no access to receive goods from outside supplier), also restricted to edit goods/employees info as well as a receiver.</a:t>
            </a:r>
          </a:p>
          <a:p>
            <a:pPr algn="l"/>
            <a:r>
              <a:rPr lang="en-US" b="1" dirty="0">
                <a:solidFill>
                  <a:srgbClr val="FF0000"/>
                </a:solidFill>
              </a:rPr>
              <a:t>The authorization is performed by governmental ID number and password of each employee.</a:t>
            </a:r>
          </a:p>
          <a:p>
            <a:pPr algn="l"/>
            <a:endParaRPr lang="uk-UA" dirty="0"/>
          </a:p>
        </p:txBody>
      </p:sp>
    </p:spTree>
    <p:extLst>
      <p:ext uri="{BB962C8B-B14F-4D97-AF65-F5344CB8AC3E}">
        <p14:creationId xmlns:p14="http://schemas.microsoft.com/office/powerpoint/2010/main" val="1898833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82FE1-1F05-F68D-55D4-179AADE5DF40}"/>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3196BC4E-7C16-D335-A7FA-7E57735879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9201E171-EE77-F435-852C-EA198F7346AE}"/>
              </a:ext>
            </a:extLst>
          </p:cNvPr>
          <p:cNvSpPr>
            <a:spLocks noGrp="1"/>
          </p:cNvSpPr>
          <p:nvPr>
            <p:ph type="ctrTitle"/>
          </p:nvPr>
        </p:nvSpPr>
        <p:spPr>
          <a:xfrm>
            <a:off x="264827" y="154745"/>
            <a:ext cx="3969548" cy="714685"/>
          </a:xfrm>
          <a:solidFill>
            <a:srgbClr val="FFFFFF">
              <a:alpha val="50196"/>
            </a:srgbClr>
          </a:solidFill>
        </p:spPr>
        <p:txBody>
          <a:bodyPr>
            <a:normAutofit/>
          </a:bodyPr>
          <a:lstStyle/>
          <a:p>
            <a:r>
              <a:rPr lang="en-US" sz="3600" b="1" dirty="0"/>
              <a:t>3. Potential users</a:t>
            </a:r>
            <a:endParaRPr lang="uk-UA" sz="3600" b="1" dirty="0"/>
          </a:p>
        </p:txBody>
      </p:sp>
      <p:sp>
        <p:nvSpPr>
          <p:cNvPr id="8" name="Місце для вмісту 7">
            <a:extLst>
              <a:ext uri="{FF2B5EF4-FFF2-40B4-BE49-F238E27FC236}">
                <a16:creationId xmlns:a16="http://schemas.microsoft.com/office/drawing/2014/main" id="{84D47C6E-3134-44E7-A37B-9A0E015ECE31}"/>
              </a:ext>
            </a:extLst>
          </p:cNvPr>
          <p:cNvSpPr txBox="1">
            <a:spLocks/>
          </p:cNvSpPr>
          <p:nvPr/>
        </p:nvSpPr>
        <p:spPr>
          <a:xfrm>
            <a:off x="264828" y="1024175"/>
            <a:ext cx="11507486" cy="2506816"/>
          </a:xfrm>
          <a:prstGeom prst="rect">
            <a:avLst/>
          </a:prstGeom>
          <a:solidFill>
            <a:srgbClr val="FFFFFF">
              <a:alpha val="40000"/>
            </a:srgbClr>
          </a:solidFill>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US" dirty="0"/>
              <a:t>The app designed for small private or intra-company warehouses with total amount of personnel not exceeding 10-15 persons. So the target audience is warehouses personnel authorized to perform logistic operations digitally (not in every warehouse all personnel is authorized to log goods movement operations).</a:t>
            </a:r>
          </a:p>
          <a:p>
            <a:pPr marL="342900" indent="-342900" algn="l">
              <a:buFont typeface="Arial" panose="020B0604020202020204" pitchFamily="34" charset="0"/>
              <a:buChar char="•"/>
            </a:pPr>
            <a:r>
              <a:rPr lang="en-US" dirty="0"/>
              <a:t>The app is created to log new logistic operation and track goods information instantly from each employee`s device, releasing a time for warehouse management to deal with all this process singlehandedly.</a:t>
            </a:r>
          </a:p>
        </p:txBody>
      </p:sp>
    </p:spTree>
    <p:extLst>
      <p:ext uri="{BB962C8B-B14F-4D97-AF65-F5344CB8AC3E}">
        <p14:creationId xmlns:p14="http://schemas.microsoft.com/office/powerpoint/2010/main" val="16372591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F8C2E-A7EF-2E36-1BF5-F89261AB0AD4}"/>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68633186-3F9B-2E28-5939-8041FDD636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CDD5FDAA-6EC1-6E9D-52F9-B696A5130643}"/>
              </a:ext>
            </a:extLst>
          </p:cNvPr>
          <p:cNvSpPr>
            <a:spLocks noGrp="1"/>
          </p:cNvSpPr>
          <p:nvPr>
            <p:ph type="ctrTitle"/>
          </p:nvPr>
        </p:nvSpPr>
        <p:spPr>
          <a:xfrm>
            <a:off x="264827" y="154745"/>
            <a:ext cx="3969548" cy="714685"/>
          </a:xfrm>
          <a:solidFill>
            <a:srgbClr val="FFFFFF">
              <a:alpha val="50196"/>
            </a:srgbClr>
          </a:solidFill>
        </p:spPr>
        <p:txBody>
          <a:bodyPr>
            <a:normAutofit/>
          </a:bodyPr>
          <a:lstStyle/>
          <a:p>
            <a:r>
              <a:rPr lang="en-US" sz="3600" b="1" dirty="0"/>
              <a:t>4. Demonstration</a:t>
            </a:r>
            <a:endParaRPr lang="uk-UA" sz="3600" b="1" dirty="0"/>
          </a:p>
        </p:txBody>
      </p:sp>
      <p:sp>
        <p:nvSpPr>
          <p:cNvPr id="8" name="Місце для вмісту 7">
            <a:extLst>
              <a:ext uri="{FF2B5EF4-FFF2-40B4-BE49-F238E27FC236}">
                <a16:creationId xmlns:a16="http://schemas.microsoft.com/office/drawing/2014/main" id="{7590D83C-25E5-DD37-8BB7-D4B51ED5C623}"/>
              </a:ext>
            </a:extLst>
          </p:cNvPr>
          <p:cNvSpPr txBox="1">
            <a:spLocks/>
          </p:cNvSpPr>
          <p:nvPr/>
        </p:nvSpPr>
        <p:spPr>
          <a:xfrm>
            <a:off x="264827" y="1356899"/>
            <a:ext cx="11664576" cy="2506816"/>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800" dirty="0"/>
              <a:t>Now it`s time to demonstrate the app working live. Let`s start!</a:t>
            </a:r>
          </a:p>
          <a:p>
            <a:endParaRPr lang="en-US" sz="4000" dirty="0"/>
          </a:p>
          <a:p>
            <a:r>
              <a:rPr lang="en-US" sz="4000" dirty="0">
                <a:solidFill>
                  <a:srgbClr val="FF0000"/>
                </a:solidFill>
                <a:hlinkClick r:id="rId3">
                  <a:extLst>
                    <a:ext uri="{A12FA001-AC4F-418D-AE19-62706E023703}">
                      <ahyp:hlinkClr xmlns:ahyp="http://schemas.microsoft.com/office/drawing/2018/hyperlinkcolor" val="tx"/>
                    </a:ext>
                  </a:extLst>
                </a:hlinkClick>
              </a:rPr>
              <a:t>Redirect here</a:t>
            </a:r>
            <a:endParaRPr lang="en-US" sz="4000" dirty="0">
              <a:solidFill>
                <a:srgbClr val="FF0000"/>
              </a:solidFill>
            </a:endParaRPr>
          </a:p>
          <a:p>
            <a:endParaRPr lang="en-US" dirty="0"/>
          </a:p>
        </p:txBody>
      </p:sp>
    </p:spTree>
    <p:extLst>
      <p:ext uri="{BB962C8B-B14F-4D97-AF65-F5344CB8AC3E}">
        <p14:creationId xmlns:p14="http://schemas.microsoft.com/office/powerpoint/2010/main" val="33413525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4FBC28-9DC6-0A76-8842-A9283C23EA12}"/>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53F82A83-EF70-D329-D2B0-6C013AFBDD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D5143C51-B08E-9FA1-0870-1DC4624D3E27}"/>
              </a:ext>
            </a:extLst>
          </p:cNvPr>
          <p:cNvSpPr>
            <a:spLocks noGrp="1"/>
          </p:cNvSpPr>
          <p:nvPr>
            <p:ph type="ctrTitle"/>
          </p:nvPr>
        </p:nvSpPr>
        <p:spPr>
          <a:xfrm>
            <a:off x="264826" y="154745"/>
            <a:ext cx="6515801" cy="714685"/>
          </a:xfrm>
          <a:solidFill>
            <a:srgbClr val="FFFFFF">
              <a:alpha val="50196"/>
            </a:srgbClr>
          </a:solidFill>
        </p:spPr>
        <p:txBody>
          <a:bodyPr>
            <a:normAutofit fontScale="90000"/>
          </a:bodyPr>
          <a:lstStyle/>
          <a:p>
            <a:r>
              <a:rPr lang="en-US" sz="3600" b="1" dirty="0"/>
              <a:t>5. Challenges faced and their solutions</a:t>
            </a:r>
            <a:endParaRPr lang="uk-UA" sz="3600" b="1" dirty="0"/>
          </a:p>
        </p:txBody>
      </p:sp>
      <p:sp>
        <p:nvSpPr>
          <p:cNvPr id="8" name="Місце для вмісту 7">
            <a:extLst>
              <a:ext uri="{FF2B5EF4-FFF2-40B4-BE49-F238E27FC236}">
                <a16:creationId xmlns:a16="http://schemas.microsoft.com/office/drawing/2014/main" id="{9BADE8B9-1ABC-92F1-1D39-8090E090D790}"/>
              </a:ext>
            </a:extLst>
          </p:cNvPr>
          <p:cNvSpPr txBox="1">
            <a:spLocks/>
          </p:cNvSpPr>
          <p:nvPr/>
        </p:nvSpPr>
        <p:spPr>
          <a:xfrm>
            <a:off x="263712" y="1159950"/>
            <a:ext cx="11664576" cy="5437797"/>
          </a:xfrm>
          <a:prstGeom prst="rect">
            <a:avLst/>
          </a:prstGeom>
          <a:solidFill>
            <a:srgbClr val="FFFFFF">
              <a:alpha val="40000"/>
            </a:srgbClr>
          </a:solidFill>
        </p:spPr>
        <p:txBody>
          <a:bodyPr vert="horz" lIns="91440" tIns="45720" rIns="91440" bIns="45720" rtlCol="0">
            <a:normAutofit fontScale="9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lgn="l" eaLnBrk="0" fontAlgn="base" hangingPunct="0">
              <a:lnSpc>
                <a:spcPct val="100000"/>
              </a:lnSpc>
              <a:spcBef>
                <a:spcPct val="0"/>
              </a:spcBef>
              <a:spcAft>
                <a:spcPct val="0"/>
              </a:spcAft>
            </a:pPr>
            <a:r>
              <a:rPr lang="en-US" altLang="uk-UA" b="1" dirty="0"/>
              <a:t>SQL triggering and database automatization</a:t>
            </a:r>
          </a:p>
          <a:p>
            <a:pPr lvl="0" algn="l" eaLnBrk="0" fontAlgn="base" hangingPunct="0">
              <a:lnSpc>
                <a:spcPct val="100000"/>
              </a:lnSpc>
              <a:spcBef>
                <a:spcPct val="0"/>
              </a:spcBef>
              <a:spcAft>
                <a:spcPct val="0"/>
              </a:spcAft>
            </a:pPr>
            <a:r>
              <a:rPr lang="en-US" altLang="uk-UA" dirty="0"/>
              <a:t>To make the whole database functionate automatically, I have coded various constraints, functions and triggers:</a:t>
            </a:r>
          </a:p>
          <a:p>
            <a:pPr algn="l" eaLnBrk="0" fontAlgn="base" hangingPunct="0">
              <a:lnSpc>
                <a:spcPct val="100000"/>
              </a:lnSpc>
              <a:spcBef>
                <a:spcPct val="0"/>
              </a:spcBef>
              <a:spcAft>
                <a:spcPct val="0"/>
              </a:spcAft>
            </a:pPr>
            <a:r>
              <a:rPr lang="en-US" altLang="uk-UA" dirty="0"/>
              <a:t>- </a:t>
            </a:r>
            <a:r>
              <a:rPr lang="de-DE" b="1" dirty="0"/>
              <a:t>chk_code_6digit</a:t>
            </a:r>
            <a:r>
              <a:rPr lang="de-DE" dirty="0"/>
              <a:t>: </a:t>
            </a:r>
            <a:r>
              <a:rPr lang="de-DE" dirty="0" err="1"/>
              <a:t>restricts</a:t>
            </a:r>
            <a:r>
              <a:rPr lang="de-DE" dirty="0"/>
              <a:t> </a:t>
            </a:r>
            <a:r>
              <a:rPr lang="de-DE" dirty="0" err="1"/>
              <a:t>entered</a:t>
            </a:r>
            <a:r>
              <a:rPr lang="de-DE" dirty="0"/>
              <a:t> </a:t>
            </a:r>
            <a:r>
              <a:rPr lang="de-DE" dirty="0" err="1"/>
              <a:t>code`s</a:t>
            </a:r>
            <a:r>
              <a:rPr lang="de-DE" dirty="0"/>
              <a:t> </a:t>
            </a:r>
            <a:r>
              <a:rPr lang="de-DE" dirty="0" err="1"/>
              <a:t>value</a:t>
            </a:r>
            <a:r>
              <a:rPr lang="de-DE" dirty="0"/>
              <a:t> </a:t>
            </a:r>
            <a:r>
              <a:rPr lang="de-DE" dirty="0" err="1"/>
              <a:t>only</a:t>
            </a:r>
            <a:r>
              <a:rPr lang="de-DE" dirty="0"/>
              <a:t> </a:t>
            </a:r>
            <a:r>
              <a:rPr lang="de-DE" dirty="0" err="1"/>
              <a:t>from</a:t>
            </a:r>
            <a:r>
              <a:rPr lang="de-DE" dirty="0"/>
              <a:t> 100000 </a:t>
            </a:r>
            <a:r>
              <a:rPr lang="de-DE" dirty="0" err="1"/>
              <a:t>to</a:t>
            </a:r>
            <a:r>
              <a:rPr lang="de-DE" dirty="0"/>
              <a:t> 999999 (e.g. </a:t>
            </a:r>
            <a:r>
              <a:rPr lang="de-DE" dirty="0" err="1"/>
              <a:t>being</a:t>
            </a:r>
            <a:r>
              <a:rPr lang="de-DE" dirty="0"/>
              <a:t> </a:t>
            </a:r>
            <a:r>
              <a:rPr lang="de-DE" dirty="0" err="1"/>
              <a:t>only</a:t>
            </a:r>
            <a:r>
              <a:rPr lang="de-DE" dirty="0"/>
              <a:t> </a:t>
            </a:r>
            <a:r>
              <a:rPr lang="de-DE" dirty="0" err="1"/>
              <a:t>six</a:t>
            </a:r>
            <a:r>
              <a:rPr lang="de-DE" dirty="0"/>
              <a:t>-digit);</a:t>
            </a:r>
            <a:endParaRPr lang="en-US" altLang="uk-UA" dirty="0"/>
          </a:p>
          <a:p>
            <a:pPr lvl="0" algn="l" eaLnBrk="0" fontAlgn="base" hangingPunct="0">
              <a:lnSpc>
                <a:spcPct val="100000"/>
              </a:lnSpc>
              <a:spcBef>
                <a:spcPct val="0"/>
              </a:spcBef>
              <a:spcAft>
                <a:spcPct val="0"/>
              </a:spcAft>
            </a:pPr>
            <a:r>
              <a:rPr lang="en-US" altLang="uk-UA" b="1" dirty="0"/>
              <a:t>-</a:t>
            </a:r>
            <a:r>
              <a:rPr lang="en-US" altLang="uk-UA" dirty="0"/>
              <a:t> </a:t>
            </a:r>
            <a:r>
              <a:rPr lang="de-DE" b="1" dirty="0" err="1"/>
              <a:t>check_goods_registry_duplicate</a:t>
            </a:r>
            <a:r>
              <a:rPr lang="de-DE" b="1" dirty="0"/>
              <a:t> &amp; </a:t>
            </a:r>
            <a:r>
              <a:rPr lang="de-DE" b="1" dirty="0" err="1"/>
              <a:t>before_goods_registry_insert</a:t>
            </a:r>
            <a:r>
              <a:rPr lang="de-DE" dirty="0"/>
              <a:t>: </a:t>
            </a:r>
          </a:p>
          <a:p>
            <a:pPr algn="l" eaLnBrk="0" fontAlgn="base" hangingPunct="0">
              <a:lnSpc>
                <a:spcPct val="100000"/>
              </a:lnSpc>
              <a:spcBef>
                <a:spcPct val="0"/>
              </a:spcBef>
              <a:spcAft>
                <a:spcPct val="0"/>
              </a:spcAft>
            </a:pPr>
            <a:r>
              <a:rPr lang="de-DE" dirty="0" err="1"/>
              <a:t>prevents</a:t>
            </a:r>
            <a:r>
              <a:rPr lang="de-DE" dirty="0"/>
              <a:t> </a:t>
            </a:r>
            <a:r>
              <a:rPr lang="de-DE" dirty="0" err="1"/>
              <a:t>of</a:t>
            </a:r>
            <a:r>
              <a:rPr lang="de-DE" dirty="0"/>
              <a:t> an </a:t>
            </a:r>
            <a:r>
              <a:rPr lang="de-DE" dirty="0" err="1"/>
              <a:t>item`s</a:t>
            </a:r>
            <a:r>
              <a:rPr lang="de-DE" dirty="0"/>
              <a:t> code </a:t>
            </a:r>
            <a:r>
              <a:rPr lang="de-DE" dirty="0" err="1"/>
              <a:t>duplicating</a:t>
            </a:r>
            <a:r>
              <a:rPr lang="de-DE" dirty="0"/>
              <a:t> </a:t>
            </a:r>
            <a:r>
              <a:rPr lang="de-DE" dirty="0" err="1"/>
              <a:t>while</a:t>
            </a:r>
            <a:r>
              <a:rPr lang="de-DE" dirty="0"/>
              <a:t> </a:t>
            </a:r>
            <a:r>
              <a:rPr lang="de-DE" dirty="0" err="1"/>
              <a:t>creating</a:t>
            </a:r>
            <a:r>
              <a:rPr lang="de-DE" dirty="0"/>
              <a:t> a </a:t>
            </a:r>
            <a:r>
              <a:rPr lang="de-DE" dirty="0" err="1"/>
              <a:t>new</a:t>
            </a:r>
            <a:r>
              <a:rPr lang="de-DE" dirty="0"/>
              <a:t> item in </a:t>
            </a:r>
            <a:r>
              <a:rPr lang="de-DE" dirty="0" err="1"/>
              <a:t>goods</a:t>
            </a:r>
            <a:r>
              <a:rPr lang="de-DE" dirty="0"/>
              <a:t> </a:t>
            </a:r>
            <a:r>
              <a:rPr lang="de-DE" dirty="0" err="1"/>
              <a:t>registry</a:t>
            </a:r>
            <a:r>
              <a:rPr lang="de-DE" dirty="0"/>
              <a:t>;</a:t>
            </a:r>
          </a:p>
          <a:p>
            <a:pPr algn="l" eaLnBrk="0" fontAlgn="base" hangingPunct="0">
              <a:lnSpc>
                <a:spcPct val="100000"/>
              </a:lnSpc>
              <a:spcBef>
                <a:spcPct val="0"/>
              </a:spcBef>
              <a:spcAft>
                <a:spcPct val="0"/>
              </a:spcAft>
            </a:pPr>
            <a:r>
              <a:rPr lang="de-DE" dirty="0"/>
              <a:t> </a:t>
            </a:r>
            <a:r>
              <a:rPr lang="de-DE" b="1" dirty="0"/>
              <a:t>-</a:t>
            </a:r>
            <a:r>
              <a:rPr lang="de-DE" dirty="0"/>
              <a:t> </a:t>
            </a:r>
            <a:r>
              <a:rPr lang="de-DE" b="1" dirty="0" err="1"/>
              <a:t>check_receive_authorization</a:t>
            </a:r>
            <a:r>
              <a:rPr lang="de-DE" b="1" dirty="0"/>
              <a:t> &amp; </a:t>
            </a:r>
            <a:r>
              <a:rPr lang="de-DE" b="1" dirty="0" err="1"/>
              <a:t>before_logistics_check_auth</a:t>
            </a:r>
            <a:r>
              <a:rPr lang="de-DE" dirty="0"/>
              <a:t>: </a:t>
            </a:r>
            <a:r>
              <a:rPr lang="de-DE" dirty="0" err="1"/>
              <a:t>blocks</a:t>
            </a:r>
            <a:r>
              <a:rPr lang="de-DE" dirty="0"/>
              <a:t> General Workers </a:t>
            </a:r>
            <a:r>
              <a:rPr lang="de-DE" dirty="0" err="1"/>
              <a:t>from</a:t>
            </a:r>
            <a:r>
              <a:rPr lang="de-DE" dirty="0"/>
              <a:t> </a:t>
            </a:r>
            <a:r>
              <a:rPr lang="de-DE" dirty="0" err="1"/>
              <a:t>goods</a:t>
            </a:r>
            <a:r>
              <a:rPr lang="de-DE" dirty="0"/>
              <a:t> </a:t>
            </a:r>
            <a:r>
              <a:rPr lang="de-DE" dirty="0" err="1"/>
              <a:t>receiving</a:t>
            </a:r>
            <a:r>
              <a:rPr lang="de-DE" dirty="0"/>
              <a:t> </a:t>
            </a:r>
            <a:r>
              <a:rPr lang="de-DE" dirty="0" err="1"/>
              <a:t>operations</a:t>
            </a:r>
            <a:r>
              <a:rPr lang="de-DE" dirty="0"/>
              <a:t> (</a:t>
            </a:r>
            <a:r>
              <a:rPr lang="de-DE" dirty="0" err="1"/>
              <a:t>by</a:t>
            </a:r>
            <a:r>
              <a:rPr lang="de-DE" dirty="0"/>
              <a:t> </a:t>
            </a:r>
            <a:r>
              <a:rPr lang="de-DE" dirty="0" err="1"/>
              <a:t>checking</a:t>
            </a:r>
            <a:r>
              <a:rPr lang="de-DE" dirty="0"/>
              <a:t> </a:t>
            </a:r>
            <a:r>
              <a:rPr lang="de-DE" b="1" dirty="0" err="1"/>
              <a:t>auth_receive</a:t>
            </a:r>
            <a:r>
              <a:rPr lang="de-DE" b="1" dirty="0"/>
              <a:t> </a:t>
            </a:r>
            <a:r>
              <a:rPr lang="de-DE" b="1" dirty="0" err="1"/>
              <a:t>column</a:t>
            </a:r>
            <a:r>
              <a:rPr lang="de-DE" dirty="0"/>
              <a:t> in </a:t>
            </a:r>
            <a:r>
              <a:rPr lang="de-DE" b="1" dirty="0" err="1"/>
              <a:t>personnel</a:t>
            </a:r>
            <a:r>
              <a:rPr lang="de-DE" dirty="0"/>
              <a:t> </a:t>
            </a:r>
            <a:r>
              <a:rPr lang="de-DE" dirty="0" err="1"/>
              <a:t>table</a:t>
            </a:r>
            <a:r>
              <a:rPr lang="de-DE" dirty="0"/>
              <a:t>);</a:t>
            </a:r>
          </a:p>
          <a:p>
            <a:pPr algn="l" eaLnBrk="0" fontAlgn="base" hangingPunct="0">
              <a:lnSpc>
                <a:spcPct val="100000"/>
              </a:lnSpc>
              <a:spcBef>
                <a:spcPct val="0"/>
              </a:spcBef>
              <a:spcAft>
                <a:spcPct val="0"/>
              </a:spcAft>
            </a:pPr>
            <a:r>
              <a:rPr lang="de-DE" b="1" dirty="0"/>
              <a:t> - </a:t>
            </a:r>
            <a:r>
              <a:rPr lang="de-DE" b="1" dirty="0" err="1"/>
              <a:t>check_goods_registry_exists</a:t>
            </a:r>
            <a:r>
              <a:rPr lang="de-DE" b="1" dirty="0"/>
              <a:t> &amp; </a:t>
            </a:r>
            <a:r>
              <a:rPr lang="de-DE" b="1" dirty="0" err="1"/>
              <a:t>before_logistics_check_registry</a:t>
            </a:r>
            <a:r>
              <a:rPr lang="de-DE" b="1" dirty="0"/>
              <a:t>: </a:t>
            </a:r>
            <a:r>
              <a:rPr lang="de-DE" dirty="0" err="1"/>
              <a:t>blocks</a:t>
            </a:r>
            <a:r>
              <a:rPr lang="de-DE" dirty="0"/>
              <a:t> </a:t>
            </a:r>
            <a:r>
              <a:rPr lang="de-DE" dirty="0" err="1"/>
              <a:t>new</a:t>
            </a:r>
            <a:r>
              <a:rPr lang="de-DE" dirty="0"/>
              <a:t> </a:t>
            </a:r>
            <a:r>
              <a:rPr lang="de-DE" dirty="0" err="1"/>
              <a:t>logistic</a:t>
            </a:r>
            <a:r>
              <a:rPr lang="de-DE" dirty="0"/>
              <a:t> </a:t>
            </a:r>
            <a:r>
              <a:rPr lang="de-DE" dirty="0" err="1"/>
              <a:t>operation</a:t>
            </a:r>
            <a:r>
              <a:rPr lang="de-DE" dirty="0"/>
              <a:t> </a:t>
            </a:r>
            <a:r>
              <a:rPr lang="de-DE" dirty="0" err="1"/>
              <a:t>logging</a:t>
            </a:r>
            <a:r>
              <a:rPr lang="de-DE" dirty="0"/>
              <a:t> </a:t>
            </a:r>
            <a:r>
              <a:rPr lang="de-DE" dirty="0" err="1"/>
              <a:t>if</a:t>
            </a:r>
            <a:r>
              <a:rPr lang="de-DE" dirty="0"/>
              <a:t> an item </a:t>
            </a:r>
            <a:r>
              <a:rPr lang="de-DE" dirty="0" err="1"/>
              <a:t>does</a:t>
            </a:r>
            <a:r>
              <a:rPr lang="de-DE" dirty="0"/>
              <a:t> not </a:t>
            </a:r>
            <a:r>
              <a:rPr lang="de-DE" dirty="0" err="1"/>
              <a:t>exist</a:t>
            </a:r>
            <a:r>
              <a:rPr lang="de-DE" dirty="0"/>
              <a:t> in </a:t>
            </a:r>
            <a:r>
              <a:rPr lang="de-DE" b="1" dirty="0" err="1"/>
              <a:t>goods_registry</a:t>
            </a:r>
            <a:r>
              <a:rPr lang="de-DE" b="1" dirty="0"/>
              <a:t> </a:t>
            </a:r>
            <a:r>
              <a:rPr lang="de-DE" dirty="0" err="1"/>
              <a:t>table</a:t>
            </a:r>
            <a:r>
              <a:rPr lang="de-DE" dirty="0"/>
              <a:t>;</a:t>
            </a:r>
          </a:p>
          <a:p>
            <a:pPr algn="l" eaLnBrk="0" fontAlgn="base" hangingPunct="0">
              <a:lnSpc>
                <a:spcPct val="100000"/>
              </a:lnSpc>
              <a:spcBef>
                <a:spcPct val="0"/>
              </a:spcBef>
              <a:spcAft>
                <a:spcPct val="0"/>
              </a:spcAft>
            </a:pPr>
            <a:r>
              <a:rPr lang="de-DE" b="1" dirty="0"/>
              <a:t> - </a:t>
            </a:r>
            <a:r>
              <a:rPr lang="de-DE" b="1" dirty="0" err="1"/>
              <a:t>fill_logistics_goods_info</a:t>
            </a:r>
            <a:r>
              <a:rPr lang="de-DE" b="1" dirty="0"/>
              <a:t> &amp; </a:t>
            </a:r>
            <a:r>
              <a:rPr lang="en-US" b="1" dirty="0" err="1"/>
              <a:t>before_logistics_set_goods_info</a:t>
            </a:r>
            <a:r>
              <a:rPr lang="en-US" b="1" dirty="0"/>
              <a:t>: </a:t>
            </a:r>
            <a:r>
              <a:rPr lang="en-US" dirty="0"/>
              <a:t>inserts automatically code, name and type of an item from </a:t>
            </a:r>
            <a:r>
              <a:rPr lang="en-US" b="1" dirty="0" err="1"/>
              <a:t>goods_registry</a:t>
            </a:r>
            <a:r>
              <a:rPr lang="en-US" dirty="0"/>
              <a:t> table, so it remains only to enter an item`s code, quantity and operation code; the </a:t>
            </a:r>
            <a:r>
              <a:rPr lang="en-US" b="1" dirty="0" err="1"/>
              <a:t>responsible_id</a:t>
            </a:r>
            <a:r>
              <a:rPr lang="en-US" b="1" dirty="0"/>
              <a:t> </a:t>
            </a:r>
            <a:r>
              <a:rPr lang="en-US" dirty="0"/>
              <a:t>is taken automatically from a current account owner`s </a:t>
            </a:r>
            <a:r>
              <a:rPr lang="en-US" b="1" dirty="0" err="1"/>
              <a:t>personnel_id</a:t>
            </a:r>
            <a:r>
              <a:rPr lang="en-US" b="1" dirty="0"/>
              <a:t> </a:t>
            </a:r>
            <a:r>
              <a:rPr lang="en-US" dirty="0"/>
              <a:t>from</a:t>
            </a:r>
            <a:r>
              <a:rPr lang="en-US" b="1" dirty="0"/>
              <a:t> personnel </a:t>
            </a:r>
            <a:r>
              <a:rPr lang="en-US" dirty="0"/>
              <a:t>table</a:t>
            </a:r>
            <a:r>
              <a:rPr lang="en-US" b="1" dirty="0"/>
              <a:t> </a:t>
            </a:r>
            <a:r>
              <a:rPr lang="en-US" dirty="0"/>
              <a:t>by </a:t>
            </a:r>
            <a:r>
              <a:rPr lang="en-US" dirty="0" err="1"/>
              <a:t>foreing</a:t>
            </a:r>
            <a:r>
              <a:rPr lang="en-US" dirty="0"/>
              <a:t> key constraint; the </a:t>
            </a:r>
            <a:r>
              <a:rPr lang="en-US" b="1" dirty="0"/>
              <a:t>datetime</a:t>
            </a:r>
            <a:r>
              <a:rPr lang="en-US" dirty="0"/>
              <a:t> stamp is created automatically each time by setting </a:t>
            </a:r>
            <a:r>
              <a:rPr lang="en-US" b="1" dirty="0" err="1"/>
              <a:t>date_and_time</a:t>
            </a:r>
            <a:r>
              <a:rPr lang="en-US" b="1" dirty="0"/>
              <a:t> </a:t>
            </a:r>
            <a:r>
              <a:rPr lang="en-US" dirty="0"/>
              <a:t>type as  TIMESTAMP NOT NULL DEFAULT CURRENT_TIMESTAMP();</a:t>
            </a:r>
          </a:p>
          <a:p>
            <a:pPr algn="l" eaLnBrk="0" fontAlgn="base" hangingPunct="0">
              <a:lnSpc>
                <a:spcPct val="100000"/>
              </a:lnSpc>
              <a:spcBef>
                <a:spcPct val="0"/>
              </a:spcBef>
              <a:spcAft>
                <a:spcPct val="0"/>
              </a:spcAft>
            </a:pPr>
            <a:r>
              <a:rPr lang="en-US" dirty="0"/>
              <a:t> - </a:t>
            </a:r>
            <a:r>
              <a:rPr lang="de-DE" b="1" dirty="0" err="1"/>
              <a:t>fill_logistics_operation_name</a:t>
            </a:r>
            <a:r>
              <a:rPr lang="de-DE" b="1" dirty="0"/>
              <a:t> &amp; </a:t>
            </a:r>
            <a:r>
              <a:rPr lang="en-US" b="1" dirty="0" err="1"/>
              <a:t>before_logistics_set_operation_name</a:t>
            </a:r>
            <a:r>
              <a:rPr lang="en-US" b="1" dirty="0"/>
              <a:t>: </a:t>
            </a:r>
            <a:r>
              <a:rPr lang="en-US" dirty="0"/>
              <a:t>auto-fill </a:t>
            </a:r>
            <a:r>
              <a:rPr lang="en-US" dirty="0" err="1"/>
              <a:t>operation_name</a:t>
            </a:r>
            <a:r>
              <a:rPr lang="en-US" dirty="0"/>
              <a:t> column of </a:t>
            </a:r>
            <a:r>
              <a:rPr lang="en-US" b="1" dirty="0"/>
              <a:t>logistics</a:t>
            </a:r>
            <a:r>
              <a:rPr lang="en-US" dirty="0"/>
              <a:t> table from </a:t>
            </a:r>
            <a:r>
              <a:rPr lang="en-US" dirty="0" err="1"/>
              <a:t>operation_codes</a:t>
            </a:r>
            <a:r>
              <a:rPr lang="en-US" dirty="0"/>
              <a:t> table;</a:t>
            </a:r>
          </a:p>
          <a:p>
            <a:pPr algn="l" eaLnBrk="0" fontAlgn="base" hangingPunct="0">
              <a:lnSpc>
                <a:spcPct val="100000"/>
              </a:lnSpc>
              <a:spcBef>
                <a:spcPct val="0"/>
              </a:spcBef>
              <a:spcAft>
                <a:spcPct val="0"/>
              </a:spcAft>
            </a:pPr>
            <a:endParaRPr lang="en-US" b="1" dirty="0"/>
          </a:p>
          <a:p>
            <a:pPr algn="l" eaLnBrk="0" fontAlgn="base" hangingPunct="0">
              <a:lnSpc>
                <a:spcPct val="100000"/>
              </a:lnSpc>
              <a:spcBef>
                <a:spcPct val="0"/>
              </a:spcBef>
              <a:spcAft>
                <a:spcPct val="0"/>
              </a:spcAft>
            </a:pPr>
            <a:endParaRPr lang="de-DE" dirty="0"/>
          </a:p>
          <a:p>
            <a:pPr algn="l" eaLnBrk="0" fontAlgn="base" hangingPunct="0">
              <a:lnSpc>
                <a:spcPct val="100000"/>
              </a:lnSpc>
              <a:spcBef>
                <a:spcPct val="0"/>
              </a:spcBef>
              <a:spcAft>
                <a:spcPct val="0"/>
              </a:spcAft>
            </a:pPr>
            <a:endParaRPr lang="en-US" dirty="0"/>
          </a:p>
          <a:p>
            <a:pPr algn="l" eaLnBrk="0" fontAlgn="base" hangingPunct="0">
              <a:lnSpc>
                <a:spcPct val="100000"/>
              </a:lnSpc>
              <a:spcBef>
                <a:spcPct val="0"/>
              </a:spcBef>
              <a:spcAft>
                <a:spcPct val="0"/>
              </a:spcAft>
            </a:pPr>
            <a:endParaRPr lang="de-DE" b="1" dirty="0"/>
          </a:p>
          <a:p>
            <a:pPr algn="l" eaLnBrk="0" fontAlgn="base" hangingPunct="0">
              <a:lnSpc>
                <a:spcPct val="100000"/>
              </a:lnSpc>
              <a:spcBef>
                <a:spcPct val="0"/>
              </a:spcBef>
              <a:spcAft>
                <a:spcPct val="0"/>
              </a:spcAft>
            </a:pPr>
            <a:endParaRPr lang="de-DE" dirty="0"/>
          </a:p>
          <a:p>
            <a:pPr algn="l" eaLnBrk="0" fontAlgn="base" hangingPunct="0">
              <a:lnSpc>
                <a:spcPct val="100000"/>
              </a:lnSpc>
              <a:spcBef>
                <a:spcPct val="0"/>
              </a:spcBef>
              <a:spcAft>
                <a:spcPct val="0"/>
              </a:spcAft>
            </a:pPr>
            <a:endParaRPr lang="de-DE" b="1" dirty="0"/>
          </a:p>
          <a:p>
            <a:pPr algn="l" eaLnBrk="0" fontAlgn="base" hangingPunct="0">
              <a:lnSpc>
                <a:spcPct val="100000"/>
              </a:lnSpc>
              <a:spcBef>
                <a:spcPct val="0"/>
              </a:spcBef>
              <a:spcAft>
                <a:spcPct val="0"/>
              </a:spcAft>
            </a:pPr>
            <a:endParaRPr lang="de-DE" dirty="0"/>
          </a:p>
          <a:p>
            <a:pPr algn="l" eaLnBrk="0" fontAlgn="base" hangingPunct="0">
              <a:lnSpc>
                <a:spcPct val="100000"/>
              </a:lnSpc>
              <a:spcBef>
                <a:spcPct val="0"/>
              </a:spcBef>
              <a:spcAft>
                <a:spcPct val="0"/>
              </a:spcAft>
            </a:pPr>
            <a:endParaRPr lang="de-DE" dirty="0"/>
          </a:p>
        </p:txBody>
      </p:sp>
    </p:spTree>
    <p:extLst>
      <p:ext uri="{BB962C8B-B14F-4D97-AF65-F5344CB8AC3E}">
        <p14:creationId xmlns:p14="http://schemas.microsoft.com/office/powerpoint/2010/main" val="589891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951A17-B9AA-8127-F546-17B0CD348043}"/>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D7533DD1-B97F-113F-2321-3E866B5E55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Місце для вмісту 7">
            <a:extLst>
              <a:ext uri="{FF2B5EF4-FFF2-40B4-BE49-F238E27FC236}">
                <a16:creationId xmlns:a16="http://schemas.microsoft.com/office/drawing/2014/main" id="{0C455D82-FB4B-045C-1348-78ED38482551}"/>
              </a:ext>
            </a:extLst>
          </p:cNvPr>
          <p:cNvSpPr txBox="1">
            <a:spLocks/>
          </p:cNvSpPr>
          <p:nvPr/>
        </p:nvSpPr>
        <p:spPr>
          <a:xfrm>
            <a:off x="263712" y="168812"/>
            <a:ext cx="11664576" cy="6428935"/>
          </a:xfrm>
          <a:prstGeom prst="rect">
            <a:avLst/>
          </a:prstGeom>
          <a:solidFill>
            <a:srgbClr val="FFFFFF">
              <a:alpha val="40000"/>
            </a:srgbClr>
          </a:solidFill>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e-DE" b="1" dirty="0"/>
              <a:t> - </a:t>
            </a:r>
            <a:r>
              <a:rPr lang="de-DE" b="1" dirty="0" err="1"/>
              <a:t>handle_logistics_operation</a:t>
            </a:r>
            <a:r>
              <a:rPr lang="de-DE" b="1" dirty="0"/>
              <a:t> &amp; </a:t>
            </a:r>
            <a:r>
              <a:rPr lang="de-DE" b="1" dirty="0" err="1"/>
              <a:t>after_logistics_insert</a:t>
            </a:r>
            <a:r>
              <a:rPr lang="de-DE" dirty="0"/>
              <a:t>: </a:t>
            </a:r>
            <a:r>
              <a:rPr lang="de-DE" dirty="0" err="1"/>
              <a:t>updates</a:t>
            </a:r>
            <a:r>
              <a:rPr lang="de-DE" dirty="0"/>
              <a:t> </a:t>
            </a:r>
            <a:r>
              <a:rPr lang="de-DE" dirty="0" err="1"/>
              <a:t>values</a:t>
            </a:r>
            <a:r>
              <a:rPr lang="de-DE" dirty="0"/>
              <a:t> in </a:t>
            </a:r>
            <a:r>
              <a:rPr lang="de-DE" b="1" dirty="0" err="1"/>
              <a:t>foods_registry</a:t>
            </a:r>
            <a:r>
              <a:rPr lang="de-DE" b="1" dirty="0"/>
              <a:t> </a:t>
            </a:r>
            <a:r>
              <a:rPr lang="de-DE" dirty="0"/>
              <a:t>and </a:t>
            </a:r>
            <a:r>
              <a:rPr lang="de-DE" b="1" dirty="0" err="1"/>
              <a:t>general_registry</a:t>
            </a:r>
            <a:r>
              <a:rPr lang="de-DE" b="1" dirty="0"/>
              <a:t> </a:t>
            </a:r>
            <a:r>
              <a:rPr lang="de-DE" dirty="0"/>
              <a:t>after </a:t>
            </a:r>
            <a:r>
              <a:rPr lang="de-DE" dirty="0" err="1"/>
              <a:t>logging</a:t>
            </a:r>
            <a:r>
              <a:rPr lang="de-DE" dirty="0"/>
              <a:t> </a:t>
            </a:r>
            <a:r>
              <a:rPr lang="de-DE" dirty="0" err="1"/>
              <a:t>new</a:t>
            </a:r>
            <a:r>
              <a:rPr lang="de-DE" dirty="0"/>
              <a:t> </a:t>
            </a:r>
            <a:r>
              <a:rPr lang="de-DE" dirty="0" err="1"/>
              <a:t>logistic</a:t>
            </a:r>
            <a:r>
              <a:rPr lang="de-DE" dirty="0"/>
              <a:t> </a:t>
            </a:r>
            <a:r>
              <a:rPr lang="de-DE" dirty="0" err="1"/>
              <a:t>operation</a:t>
            </a:r>
            <a:r>
              <a:rPr lang="de-DE" dirty="0"/>
              <a:t> </a:t>
            </a:r>
            <a:r>
              <a:rPr lang="de-DE" dirty="0" err="1"/>
              <a:t>which</a:t>
            </a:r>
            <a:r>
              <a:rPr lang="de-DE" dirty="0"/>
              <a:t> </a:t>
            </a:r>
            <a:r>
              <a:rPr lang="de-DE" dirty="0" err="1"/>
              <a:t>causes</a:t>
            </a:r>
            <a:r>
              <a:rPr lang="de-DE" dirty="0"/>
              <a:t> </a:t>
            </a:r>
            <a:r>
              <a:rPr lang="de-DE" dirty="0" err="1"/>
              <a:t>to</a:t>
            </a:r>
            <a:r>
              <a:rPr lang="de-DE" dirty="0"/>
              <a:t> </a:t>
            </a:r>
            <a:r>
              <a:rPr lang="de-DE" dirty="0" err="1"/>
              <a:t>inventory</a:t>
            </a:r>
            <a:r>
              <a:rPr lang="de-DE" dirty="0"/>
              <a:t> </a:t>
            </a:r>
            <a:r>
              <a:rPr lang="de-DE" dirty="0" err="1"/>
              <a:t>quantities</a:t>
            </a:r>
            <a:r>
              <a:rPr lang="de-DE" dirty="0"/>
              <a:t> </a:t>
            </a:r>
            <a:r>
              <a:rPr lang="de-DE" dirty="0" err="1"/>
              <a:t>change</a:t>
            </a:r>
            <a:r>
              <a:rPr lang="de-DE" dirty="0"/>
              <a:t>;</a:t>
            </a:r>
          </a:p>
          <a:p>
            <a:pPr algn="l"/>
            <a:r>
              <a:rPr lang="de-DE" b="1" dirty="0"/>
              <a:t> - </a:t>
            </a:r>
            <a:r>
              <a:rPr lang="de-DE" b="1" dirty="0" err="1"/>
              <a:t>remove_if_zero_quantity</a:t>
            </a:r>
            <a:r>
              <a:rPr lang="de-DE" b="1" dirty="0"/>
              <a:t>: </a:t>
            </a:r>
            <a:r>
              <a:rPr lang="de-DE" dirty="0" err="1"/>
              <a:t>removes</a:t>
            </a:r>
            <a:r>
              <a:rPr lang="de-DE" dirty="0"/>
              <a:t> an item </a:t>
            </a:r>
            <a:r>
              <a:rPr lang="de-DE" dirty="0" err="1"/>
              <a:t>row</a:t>
            </a:r>
            <a:r>
              <a:rPr lang="de-DE" dirty="0"/>
              <a:t> </a:t>
            </a:r>
            <a:r>
              <a:rPr lang="de-DE" dirty="0" err="1"/>
              <a:t>from</a:t>
            </a:r>
            <a:r>
              <a:rPr lang="de-DE" dirty="0"/>
              <a:t> </a:t>
            </a:r>
            <a:r>
              <a:rPr lang="de-DE" dirty="0" err="1"/>
              <a:t>inventory</a:t>
            </a:r>
            <a:r>
              <a:rPr lang="de-DE" dirty="0"/>
              <a:t> </a:t>
            </a:r>
            <a:r>
              <a:rPr lang="de-DE" dirty="0" err="1"/>
              <a:t>tables</a:t>
            </a:r>
            <a:r>
              <a:rPr lang="de-DE" dirty="0"/>
              <a:t> </a:t>
            </a:r>
            <a:r>
              <a:rPr lang="de-DE" dirty="0" err="1"/>
              <a:t>if</a:t>
            </a:r>
            <a:r>
              <a:rPr lang="de-DE" dirty="0"/>
              <a:t> </a:t>
            </a:r>
            <a:r>
              <a:rPr lang="de-DE" dirty="0" err="1"/>
              <a:t>it`s</a:t>
            </a:r>
            <a:r>
              <a:rPr lang="de-DE" dirty="0"/>
              <a:t> </a:t>
            </a:r>
            <a:r>
              <a:rPr lang="de-DE" dirty="0" err="1"/>
              <a:t>quantity</a:t>
            </a:r>
            <a:r>
              <a:rPr lang="de-DE" dirty="0"/>
              <a:t> </a:t>
            </a:r>
            <a:r>
              <a:rPr lang="de-DE" dirty="0" err="1"/>
              <a:t>equals</a:t>
            </a:r>
            <a:r>
              <a:rPr lang="de-DE" dirty="0"/>
              <a:t> </a:t>
            </a:r>
            <a:r>
              <a:rPr lang="de-DE" dirty="0" err="1"/>
              <a:t>zero</a:t>
            </a:r>
            <a:r>
              <a:rPr lang="de-DE" dirty="0"/>
              <a:t> (</a:t>
            </a:r>
            <a:r>
              <a:rPr lang="de-DE" dirty="0" err="1"/>
              <a:t>triggered</a:t>
            </a:r>
            <a:r>
              <a:rPr lang="de-DE" dirty="0"/>
              <a:t> </a:t>
            </a:r>
            <a:r>
              <a:rPr lang="de-DE" dirty="0" err="1"/>
              <a:t>by</a:t>
            </a:r>
            <a:r>
              <a:rPr lang="de-DE" dirty="0"/>
              <a:t> </a:t>
            </a:r>
            <a:r>
              <a:rPr lang="de-DE" b="1" dirty="0" err="1"/>
              <a:t>check_zero_quantity_food</a:t>
            </a:r>
            <a:r>
              <a:rPr lang="de-DE" dirty="0"/>
              <a:t> and </a:t>
            </a:r>
            <a:r>
              <a:rPr lang="de-DE" b="1" dirty="0" err="1"/>
              <a:t>check_zero_quantity_general</a:t>
            </a:r>
            <a:r>
              <a:rPr lang="de-DE" dirty="0"/>
              <a:t> </a:t>
            </a:r>
            <a:r>
              <a:rPr lang="de-DE" dirty="0" err="1"/>
              <a:t>triggers</a:t>
            </a:r>
            <a:r>
              <a:rPr lang="de-DE" dirty="0"/>
              <a:t> </a:t>
            </a:r>
            <a:r>
              <a:rPr lang="de-DE" dirty="0" err="1"/>
              <a:t>for</a:t>
            </a:r>
            <a:r>
              <a:rPr lang="de-DE" dirty="0"/>
              <a:t> </a:t>
            </a:r>
            <a:r>
              <a:rPr lang="de-DE" dirty="0" err="1"/>
              <a:t>each</a:t>
            </a:r>
            <a:r>
              <a:rPr lang="de-DE" dirty="0"/>
              <a:t> </a:t>
            </a:r>
            <a:r>
              <a:rPr lang="de-DE" dirty="0" err="1"/>
              <a:t>inventory</a:t>
            </a:r>
            <a:r>
              <a:rPr lang="de-DE" dirty="0"/>
              <a:t> </a:t>
            </a:r>
            <a:r>
              <a:rPr lang="de-DE" dirty="0" err="1"/>
              <a:t>table</a:t>
            </a:r>
            <a:r>
              <a:rPr lang="de-DE" dirty="0"/>
              <a:t> </a:t>
            </a:r>
            <a:r>
              <a:rPr lang="de-DE" dirty="0" err="1"/>
              <a:t>respectively</a:t>
            </a:r>
            <a:r>
              <a:rPr lang="de-DE" dirty="0"/>
              <a:t>);</a:t>
            </a:r>
          </a:p>
          <a:p>
            <a:pPr algn="l"/>
            <a:r>
              <a:rPr lang="de-DE" b="1" dirty="0"/>
              <a:t> - </a:t>
            </a:r>
            <a:r>
              <a:rPr lang="de-DE" b="1" dirty="0" err="1"/>
              <a:t>fill_personnel_auth</a:t>
            </a:r>
            <a:r>
              <a:rPr lang="de-DE" b="1" dirty="0"/>
              <a:t> &amp; </a:t>
            </a:r>
            <a:r>
              <a:rPr lang="de-DE" b="1" dirty="0" err="1"/>
              <a:t>before_personnel_set_auth</a:t>
            </a:r>
            <a:r>
              <a:rPr lang="de-DE" b="1" dirty="0"/>
              <a:t>: </a:t>
            </a:r>
            <a:r>
              <a:rPr lang="en-US" dirty="0"/>
              <a:t>auto-fill auth columns (e.g. authorized to receive goods, edit personnel information and edit goods registry) in </a:t>
            </a:r>
            <a:r>
              <a:rPr lang="en-US" b="1" dirty="0"/>
              <a:t>personnel </a:t>
            </a:r>
            <a:r>
              <a:rPr lang="en-US" dirty="0"/>
              <a:t>table</a:t>
            </a:r>
            <a:r>
              <a:rPr lang="en-US" b="1" dirty="0"/>
              <a:t> </a:t>
            </a:r>
            <a:r>
              <a:rPr lang="en-US" dirty="0"/>
              <a:t>from - </a:t>
            </a:r>
            <a:r>
              <a:rPr lang="en-US" b="1" dirty="0" err="1"/>
              <a:t>occupation_codes</a:t>
            </a:r>
            <a:r>
              <a:rPr lang="en-US" b="1" dirty="0"/>
              <a:t> </a:t>
            </a:r>
            <a:r>
              <a:rPr lang="en-US" dirty="0"/>
              <a:t>table, while creating or updating an employee`s account;</a:t>
            </a:r>
          </a:p>
          <a:p>
            <a:pPr algn="l"/>
            <a:r>
              <a:rPr lang="en-US" b="1" dirty="0"/>
              <a:t> - </a:t>
            </a:r>
            <a:r>
              <a:rPr lang="en-US" b="1" dirty="0" err="1"/>
              <a:t>check_general_worker_receive_restriction</a:t>
            </a:r>
            <a:r>
              <a:rPr lang="en-US" b="1" dirty="0"/>
              <a:t>: </a:t>
            </a:r>
            <a:r>
              <a:rPr lang="en-US" dirty="0"/>
              <a:t>blocks occupation code #3 from goods receiving operations (making unable to violate it using backend controllers);</a:t>
            </a:r>
          </a:p>
          <a:p>
            <a:pPr algn="l"/>
            <a:r>
              <a:rPr lang="de-DE" b="1" dirty="0"/>
              <a:t> - </a:t>
            </a:r>
            <a:r>
              <a:rPr lang="de-DE" b="1" dirty="0" err="1"/>
              <a:t>check_non_negative_quantity</a:t>
            </a:r>
            <a:r>
              <a:rPr lang="de-DE" b="1" dirty="0"/>
              <a:t> &amp; </a:t>
            </a:r>
            <a:r>
              <a:rPr lang="de-DE" b="1" dirty="0" err="1"/>
              <a:t>check_logistics_quantity</a:t>
            </a:r>
            <a:r>
              <a:rPr lang="de-DE" b="1" dirty="0"/>
              <a:t>: </a:t>
            </a:r>
            <a:r>
              <a:rPr lang="en-US" dirty="0"/>
              <a:t>blocks inventory quantities from entering negative values;</a:t>
            </a:r>
            <a:endParaRPr lang="de-DE" b="1" dirty="0"/>
          </a:p>
          <a:p>
            <a:pPr algn="l"/>
            <a:r>
              <a:rPr lang="de-DE" b="1" dirty="0"/>
              <a:t> - </a:t>
            </a:r>
            <a:r>
              <a:rPr lang="de-DE" b="1" dirty="0" err="1"/>
              <a:t>check_departure_availability</a:t>
            </a:r>
            <a:r>
              <a:rPr lang="de-DE" b="1" dirty="0"/>
              <a:t>: </a:t>
            </a:r>
            <a:r>
              <a:rPr lang="de-DE" dirty="0" err="1"/>
              <a:t>blocks</a:t>
            </a:r>
            <a:r>
              <a:rPr lang="de-DE" dirty="0"/>
              <a:t> </a:t>
            </a:r>
            <a:r>
              <a:rPr lang="de-DE" dirty="0" err="1"/>
              <a:t>from</a:t>
            </a:r>
            <a:r>
              <a:rPr lang="de-DE" dirty="0"/>
              <a:t> </a:t>
            </a:r>
            <a:r>
              <a:rPr lang="de-DE" dirty="0" err="1"/>
              <a:t>logging</a:t>
            </a:r>
            <a:r>
              <a:rPr lang="de-DE" dirty="0"/>
              <a:t> a </a:t>
            </a:r>
            <a:r>
              <a:rPr lang="de-DE" dirty="0" err="1"/>
              <a:t>new</a:t>
            </a:r>
            <a:r>
              <a:rPr lang="de-DE" dirty="0"/>
              <a:t> </a:t>
            </a:r>
            <a:r>
              <a:rPr lang="de-DE" dirty="0" err="1"/>
              <a:t>logistic</a:t>
            </a:r>
            <a:r>
              <a:rPr lang="de-DE" dirty="0"/>
              <a:t> </a:t>
            </a:r>
            <a:r>
              <a:rPr lang="de-DE" dirty="0" err="1"/>
              <a:t>operation</a:t>
            </a:r>
            <a:r>
              <a:rPr lang="de-DE" dirty="0"/>
              <a:t> </a:t>
            </a:r>
            <a:r>
              <a:rPr lang="de-DE" dirty="0" err="1"/>
              <a:t>if</a:t>
            </a:r>
            <a:r>
              <a:rPr lang="de-DE" dirty="0"/>
              <a:t> </a:t>
            </a:r>
            <a:r>
              <a:rPr lang="de-DE" dirty="0" err="1"/>
              <a:t>departing</a:t>
            </a:r>
            <a:r>
              <a:rPr lang="de-DE" dirty="0"/>
              <a:t> </a:t>
            </a:r>
            <a:r>
              <a:rPr lang="de-DE" dirty="0" err="1"/>
              <a:t>quantity</a:t>
            </a:r>
            <a:r>
              <a:rPr lang="de-DE" dirty="0"/>
              <a:t> </a:t>
            </a:r>
            <a:r>
              <a:rPr lang="de-DE" dirty="0" err="1"/>
              <a:t>exceeds</a:t>
            </a:r>
            <a:r>
              <a:rPr lang="de-DE" dirty="0"/>
              <a:t> </a:t>
            </a:r>
            <a:r>
              <a:rPr lang="de-DE" dirty="0" err="1"/>
              <a:t>actual</a:t>
            </a:r>
            <a:r>
              <a:rPr lang="de-DE" dirty="0"/>
              <a:t> </a:t>
            </a:r>
            <a:r>
              <a:rPr lang="de-DE" dirty="0" err="1"/>
              <a:t>inventory`s</a:t>
            </a:r>
            <a:r>
              <a:rPr lang="de-DE" dirty="0"/>
              <a:t> </a:t>
            </a:r>
            <a:r>
              <a:rPr lang="de-DE" dirty="0" err="1"/>
              <a:t>quantity</a:t>
            </a:r>
            <a:r>
              <a:rPr lang="de-DE" dirty="0"/>
              <a:t> </a:t>
            </a:r>
            <a:r>
              <a:rPr lang="en-US" dirty="0"/>
              <a:t>or the item isn't present in inventory;</a:t>
            </a:r>
          </a:p>
          <a:p>
            <a:pPr algn="l"/>
            <a:r>
              <a:rPr lang="en-US" b="1" dirty="0"/>
              <a:t> - </a:t>
            </a:r>
            <a:r>
              <a:rPr lang="de-DE" b="1" dirty="0" err="1"/>
              <a:t>propagate_goods_registry_update</a:t>
            </a:r>
            <a:r>
              <a:rPr lang="de-DE" b="1" dirty="0"/>
              <a:t> &amp; </a:t>
            </a:r>
            <a:r>
              <a:rPr lang="de-DE" b="1" dirty="0" err="1"/>
              <a:t>after_goods_registry_update</a:t>
            </a:r>
            <a:r>
              <a:rPr lang="de-DE" dirty="0"/>
              <a:t>: </a:t>
            </a:r>
            <a:r>
              <a:rPr lang="de-DE" dirty="0" err="1"/>
              <a:t>updates</a:t>
            </a:r>
            <a:r>
              <a:rPr lang="de-DE" dirty="0"/>
              <a:t> </a:t>
            </a:r>
            <a:r>
              <a:rPr lang="de-DE" dirty="0" err="1"/>
              <a:t>any</a:t>
            </a:r>
            <a:r>
              <a:rPr lang="de-DE" dirty="0"/>
              <a:t> </a:t>
            </a:r>
            <a:r>
              <a:rPr lang="de-DE" b="1" dirty="0" err="1"/>
              <a:t>goods_registry</a:t>
            </a:r>
            <a:r>
              <a:rPr lang="de-DE" b="1" dirty="0"/>
              <a:t> </a:t>
            </a:r>
            <a:r>
              <a:rPr lang="de-DE" dirty="0" err="1"/>
              <a:t>table</a:t>
            </a:r>
            <a:r>
              <a:rPr lang="de-DE" dirty="0"/>
              <a:t> </a:t>
            </a:r>
            <a:r>
              <a:rPr lang="de-DE" dirty="0" err="1"/>
              <a:t>updates</a:t>
            </a:r>
            <a:r>
              <a:rPr lang="de-DE" dirty="0"/>
              <a:t> </a:t>
            </a:r>
            <a:r>
              <a:rPr lang="de-DE" dirty="0" err="1"/>
              <a:t>to</a:t>
            </a:r>
            <a:r>
              <a:rPr lang="de-DE" dirty="0"/>
              <a:t> </a:t>
            </a:r>
            <a:r>
              <a:rPr lang="de-DE" b="1" dirty="0" err="1"/>
              <a:t>foods_inventory</a:t>
            </a:r>
            <a:r>
              <a:rPr lang="de-DE" dirty="0"/>
              <a:t>, </a:t>
            </a:r>
            <a:r>
              <a:rPr lang="de-DE" b="1" dirty="0" err="1"/>
              <a:t>general_inventory</a:t>
            </a:r>
            <a:r>
              <a:rPr lang="de-DE" dirty="0"/>
              <a:t> and </a:t>
            </a:r>
            <a:r>
              <a:rPr lang="de-DE" b="1" dirty="0" err="1"/>
              <a:t>logistics</a:t>
            </a:r>
            <a:r>
              <a:rPr lang="de-DE" dirty="0"/>
              <a:t> </a:t>
            </a:r>
            <a:r>
              <a:rPr lang="de-DE" dirty="0" err="1"/>
              <a:t>tables</a:t>
            </a:r>
            <a:r>
              <a:rPr lang="de-DE" dirty="0"/>
              <a:t> (e.g. </a:t>
            </a:r>
            <a:r>
              <a:rPr lang="de-DE" dirty="0" err="1"/>
              <a:t>if</a:t>
            </a:r>
            <a:r>
              <a:rPr lang="de-DE" dirty="0"/>
              <a:t> </a:t>
            </a:r>
            <a:r>
              <a:rPr lang="de-DE" dirty="0" err="1"/>
              <a:t>name</a:t>
            </a:r>
            <a:r>
              <a:rPr lang="de-DE" dirty="0"/>
              <a:t> </a:t>
            </a:r>
            <a:r>
              <a:rPr lang="de-DE" dirty="0" err="1"/>
              <a:t>or</a:t>
            </a:r>
            <a:r>
              <a:rPr lang="de-DE" dirty="0"/>
              <a:t> </a:t>
            </a:r>
            <a:r>
              <a:rPr lang="de-DE" dirty="0" err="1"/>
              <a:t>measuring</a:t>
            </a:r>
            <a:r>
              <a:rPr lang="de-DE" dirty="0"/>
              <a:t> </a:t>
            </a:r>
            <a:r>
              <a:rPr lang="de-DE" dirty="0" err="1"/>
              <a:t>unit</a:t>
            </a:r>
            <a:r>
              <a:rPr lang="de-DE" dirty="0"/>
              <a:t> </a:t>
            </a:r>
            <a:r>
              <a:rPr lang="de-DE" dirty="0" err="1"/>
              <a:t>are</a:t>
            </a:r>
            <a:r>
              <a:rPr lang="de-DE" dirty="0"/>
              <a:t> </a:t>
            </a:r>
            <a:r>
              <a:rPr lang="de-DE" dirty="0" err="1"/>
              <a:t>changed</a:t>
            </a:r>
            <a:r>
              <a:rPr lang="de-DE" dirty="0"/>
              <a:t>, </a:t>
            </a:r>
            <a:r>
              <a:rPr lang="de-DE" dirty="0" err="1"/>
              <a:t>it</a:t>
            </a:r>
            <a:r>
              <a:rPr lang="de-DE" dirty="0"/>
              <a:t> </a:t>
            </a:r>
            <a:r>
              <a:rPr lang="de-DE" dirty="0" err="1"/>
              <a:t>gets</a:t>
            </a:r>
            <a:r>
              <a:rPr lang="de-DE" dirty="0"/>
              <a:t> </a:t>
            </a:r>
            <a:r>
              <a:rPr lang="de-DE" dirty="0" err="1"/>
              <a:t>updated</a:t>
            </a:r>
            <a:r>
              <a:rPr lang="de-DE" dirty="0"/>
              <a:t> </a:t>
            </a:r>
            <a:r>
              <a:rPr lang="de-DE" dirty="0" err="1"/>
              <a:t>automatically</a:t>
            </a:r>
            <a:r>
              <a:rPr lang="de-DE" dirty="0"/>
              <a:t> in </a:t>
            </a:r>
            <a:r>
              <a:rPr lang="de-DE" dirty="0" err="1"/>
              <a:t>aforementioned</a:t>
            </a:r>
            <a:r>
              <a:rPr lang="de-DE" dirty="0"/>
              <a:t> </a:t>
            </a:r>
            <a:r>
              <a:rPr lang="de-DE" dirty="0" err="1"/>
              <a:t>tables</a:t>
            </a:r>
            <a:r>
              <a:rPr lang="de-DE" dirty="0"/>
              <a:t>).</a:t>
            </a:r>
          </a:p>
          <a:p>
            <a:pPr algn="l"/>
            <a:endParaRPr lang="en-US" b="1" dirty="0"/>
          </a:p>
          <a:p>
            <a:pPr algn="l"/>
            <a:endParaRPr lang="de-DE" b="1" dirty="0"/>
          </a:p>
          <a:p>
            <a:pPr algn="l"/>
            <a:endParaRPr lang="de-DE" dirty="0"/>
          </a:p>
          <a:p>
            <a:pPr algn="l"/>
            <a:endParaRPr lang="de-DE" dirty="0"/>
          </a:p>
          <a:p>
            <a:pPr algn="l"/>
            <a:endParaRPr lang="de-DE" b="1" dirty="0"/>
          </a:p>
        </p:txBody>
      </p:sp>
    </p:spTree>
    <p:extLst>
      <p:ext uri="{BB962C8B-B14F-4D97-AF65-F5344CB8AC3E}">
        <p14:creationId xmlns:p14="http://schemas.microsoft.com/office/powerpoint/2010/main" val="12655190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F98A66-B439-B99A-C21E-227FE6BBFEAA}"/>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DCCB0D76-87DC-36CD-9BA6-F422996074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Місце для вмісту 7">
            <a:extLst>
              <a:ext uri="{FF2B5EF4-FFF2-40B4-BE49-F238E27FC236}">
                <a16:creationId xmlns:a16="http://schemas.microsoft.com/office/drawing/2014/main" id="{BF1C1D75-BC45-85E7-EDC6-7BAB7D5B0403}"/>
              </a:ext>
            </a:extLst>
          </p:cNvPr>
          <p:cNvSpPr txBox="1">
            <a:spLocks/>
          </p:cNvSpPr>
          <p:nvPr/>
        </p:nvSpPr>
        <p:spPr>
          <a:xfrm>
            <a:off x="263712" y="168812"/>
            <a:ext cx="11664576" cy="6428935"/>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e-DE" b="1" dirty="0"/>
              <a:t>Backend</a:t>
            </a:r>
          </a:p>
          <a:p>
            <a:pPr algn="l"/>
            <a:r>
              <a:rPr lang="de-DE" b="1" dirty="0" err="1"/>
              <a:t>Tokenization</a:t>
            </a:r>
            <a:endParaRPr lang="de-DE" b="1" dirty="0"/>
          </a:p>
          <a:p>
            <a:pPr algn="l"/>
            <a:r>
              <a:rPr lang="de-DE" dirty="0"/>
              <a:t>As </a:t>
            </a:r>
            <a:r>
              <a:rPr lang="de-DE" dirty="0" err="1"/>
              <a:t>the</a:t>
            </a:r>
            <a:r>
              <a:rPr lang="de-DE" dirty="0"/>
              <a:t> </a:t>
            </a:r>
            <a:r>
              <a:rPr lang="de-DE" dirty="0" err="1"/>
              <a:t>primary</a:t>
            </a:r>
            <a:r>
              <a:rPr lang="de-DE" dirty="0"/>
              <a:t> JWT </a:t>
            </a:r>
            <a:r>
              <a:rPr lang="de-DE" dirty="0" err="1"/>
              <a:t>secret</a:t>
            </a:r>
            <a:r>
              <a:rPr lang="de-DE" dirty="0"/>
              <a:t> </a:t>
            </a:r>
            <a:r>
              <a:rPr lang="de-DE" dirty="0" err="1"/>
              <a:t>is</a:t>
            </a:r>
            <a:r>
              <a:rPr lang="de-DE" dirty="0"/>
              <a:t> </a:t>
            </a:r>
            <a:r>
              <a:rPr lang="de-DE" dirty="0" err="1"/>
              <a:t>used</a:t>
            </a:r>
            <a:r>
              <a:rPr lang="de-DE" dirty="0"/>
              <a:t> </a:t>
            </a:r>
            <a:r>
              <a:rPr lang="de-DE" dirty="0" err="1"/>
              <a:t>for</a:t>
            </a:r>
            <a:r>
              <a:rPr lang="de-DE" dirty="0"/>
              <a:t> </a:t>
            </a:r>
            <a:r>
              <a:rPr lang="de-DE" dirty="0" err="1"/>
              <a:t>authorization</a:t>
            </a:r>
            <a:r>
              <a:rPr lang="de-DE" dirty="0"/>
              <a:t> and </a:t>
            </a:r>
            <a:r>
              <a:rPr lang="de-DE" dirty="0" err="1"/>
              <a:t>is</a:t>
            </a:r>
            <a:r>
              <a:rPr lang="de-DE" dirty="0"/>
              <a:t> </a:t>
            </a:r>
            <a:r>
              <a:rPr lang="de-DE" dirty="0" err="1"/>
              <a:t>stored</a:t>
            </a:r>
            <a:r>
              <a:rPr lang="de-DE" dirty="0"/>
              <a:t> in </a:t>
            </a:r>
            <a:r>
              <a:rPr lang="de-DE" dirty="0" err="1"/>
              <a:t>environment</a:t>
            </a:r>
            <a:r>
              <a:rPr lang="de-DE" dirty="0"/>
              <a:t>, </a:t>
            </a:r>
            <a:r>
              <a:rPr lang="de-DE" dirty="0" err="1"/>
              <a:t>each</a:t>
            </a:r>
            <a:r>
              <a:rPr lang="de-DE" dirty="0"/>
              <a:t> time, </a:t>
            </a:r>
            <a:r>
              <a:rPr lang="de-DE" dirty="0" err="1"/>
              <a:t>when</a:t>
            </a:r>
            <a:r>
              <a:rPr lang="de-DE" dirty="0"/>
              <a:t> </a:t>
            </a:r>
            <a:r>
              <a:rPr lang="de-DE" dirty="0" err="1"/>
              <a:t>logging</a:t>
            </a:r>
            <a:r>
              <a:rPr lang="de-DE" dirty="0"/>
              <a:t> in </a:t>
            </a:r>
            <a:r>
              <a:rPr lang="de-DE" dirty="0" err="1"/>
              <a:t>is</a:t>
            </a:r>
            <a:r>
              <a:rPr lang="de-DE" dirty="0"/>
              <a:t> </a:t>
            </a:r>
            <a:r>
              <a:rPr lang="de-DE" dirty="0" err="1"/>
              <a:t>performed</a:t>
            </a:r>
            <a:r>
              <a:rPr lang="de-DE" dirty="0"/>
              <a:t>, a different </a:t>
            </a:r>
            <a:r>
              <a:rPr lang="de-DE" dirty="0" err="1"/>
              <a:t>access</a:t>
            </a:r>
            <a:r>
              <a:rPr lang="de-DE" dirty="0"/>
              <a:t> </a:t>
            </a:r>
            <a:r>
              <a:rPr lang="de-DE" dirty="0" err="1"/>
              <a:t>token</a:t>
            </a:r>
            <a:r>
              <a:rPr lang="de-DE" dirty="0"/>
              <a:t> </a:t>
            </a:r>
            <a:r>
              <a:rPr lang="de-DE" dirty="0" err="1"/>
              <a:t>is</a:t>
            </a:r>
            <a:r>
              <a:rPr lang="de-DE" dirty="0"/>
              <a:t> </a:t>
            </a:r>
            <a:r>
              <a:rPr lang="de-DE" dirty="0" err="1"/>
              <a:t>created</a:t>
            </a:r>
            <a:r>
              <a:rPr lang="de-DE" dirty="0"/>
              <a:t> and </a:t>
            </a:r>
            <a:r>
              <a:rPr lang="de-DE" dirty="0" err="1"/>
              <a:t>stored</a:t>
            </a:r>
            <a:r>
              <a:rPr lang="de-DE" dirty="0"/>
              <a:t> in </a:t>
            </a:r>
            <a:r>
              <a:rPr lang="de-DE" dirty="0" err="1"/>
              <a:t>the</a:t>
            </a:r>
            <a:r>
              <a:rPr lang="de-DE" dirty="0"/>
              <a:t> </a:t>
            </a:r>
            <a:r>
              <a:rPr lang="de-DE" dirty="0" err="1"/>
              <a:t>database</a:t>
            </a:r>
            <a:r>
              <a:rPr lang="de-DE" dirty="0"/>
              <a:t>. The </a:t>
            </a:r>
            <a:r>
              <a:rPr lang="de-DE" dirty="0" err="1"/>
              <a:t>token</a:t>
            </a:r>
            <a:r>
              <a:rPr lang="de-DE" dirty="0"/>
              <a:t> </a:t>
            </a:r>
            <a:r>
              <a:rPr lang="de-DE" dirty="0" err="1"/>
              <a:t>is</a:t>
            </a:r>
            <a:r>
              <a:rPr lang="de-DE" dirty="0"/>
              <a:t> valid </a:t>
            </a:r>
            <a:r>
              <a:rPr lang="de-DE" dirty="0" err="1"/>
              <a:t>for</a:t>
            </a:r>
            <a:r>
              <a:rPr lang="de-DE" dirty="0"/>
              <a:t> 15 </a:t>
            </a:r>
            <a:r>
              <a:rPr lang="de-DE" dirty="0" err="1"/>
              <a:t>minutes</a:t>
            </a:r>
            <a:r>
              <a:rPr lang="de-DE" dirty="0"/>
              <a:t> </a:t>
            </a:r>
            <a:r>
              <a:rPr lang="de-DE" dirty="0" err="1"/>
              <a:t>only</a:t>
            </a:r>
            <a:r>
              <a:rPr lang="de-DE" dirty="0"/>
              <a:t> and </a:t>
            </a:r>
            <a:r>
              <a:rPr lang="de-DE" dirty="0" err="1"/>
              <a:t>gets</a:t>
            </a:r>
            <a:r>
              <a:rPr lang="de-DE" dirty="0"/>
              <a:t> </a:t>
            </a:r>
            <a:r>
              <a:rPr lang="de-DE" dirty="0" err="1"/>
              <a:t>expired</a:t>
            </a:r>
            <a:r>
              <a:rPr lang="de-DE" dirty="0"/>
              <a:t> </a:t>
            </a:r>
            <a:r>
              <a:rPr lang="de-DE" dirty="0" err="1"/>
              <a:t>beacuse</a:t>
            </a:r>
            <a:r>
              <a:rPr lang="de-DE" dirty="0"/>
              <a:t> </a:t>
            </a:r>
            <a:r>
              <a:rPr lang="de-DE" dirty="0" err="1"/>
              <a:t>of</a:t>
            </a:r>
            <a:r>
              <a:rPr lang="de-DE" dirty="0"/>
              <a:t> </a:t>
            </a:r>
            <a:r>
              <a:rPr lang="de-DE" dirty="0" err="1"/>
              <a:t>inactivity</a:t>
            </a:r>
            <a:r>
              <a:rPr lang="de-DE" dirty="0"/>
              <a:t>. After </a:t>
            </a:r>
            <a:r>
              <a:rPr lang="de-DE" dirty="0" err="1"/>
              <a:t>hard</a:t>
            </a:r>
            <a:r>
              <a:rPr lang="de-DE" dirty="0"/>
              <a:t> </a:t>
            </a:r>
            <a:r>
              <a:rPr lang="de-DE" dirty="0" err="1"/>
              <a:t>refreshing</a:t>
            </a:r>
            <a:r>
              <a:rPr lang="de-DE" dirty="0"/>
              <a:t> </a:t>
            </a:r>
            <a:r>
              <a:rPr lang="de-DE" dirty="0" err="1"/>
              <a:t>the</a:t>
            </a:r>
            <a:r>
              <a:rPr lang="de-DE" dirty="0"/>
              <a:t> </a:t>
            </a:r>
            <a:r>
              <a:rPr lang="de-DE" dirty="0" err="1"/>
              <a:t>app</a:t>
            </a:r>
            <a:r>
              <a:rPr lang="de-DE" dirty="0"/>
              <a:t>, a </a:t>
            </a:r>
            <a:r>
              <a:rPr lang="de-DE" dirty="0" err="1"/>
              <a:t>new</a:t>
            </a:r>
            <a:r>
              <a:rPr lang="de-DE" dirty="0"/>
              <a:t> </a:t>
            </a:r>
            <a:r>
              <a:rPr lang="de-DE" dirty="0" err="1"/>
              <a:t>token</a:t>
            </a:r>
            <a:r>
              <a:rPr lang="de-DE" dirty="0"/>
              <a:t> </a:t>
            </a:r>
            <a:r>
              <a:rPr lang="de-DE" dirty="0" err="1"/>
              <a:t>is</a:t>
            </a:r>
            <a:r>
              <a:rPr lang="de-DE" dirty="0"/>
              <a:t> </a:t>
            </a:r>
            <a:r>
              <a:rPr lang="de-DE" dirty="0" err="1"/>
              <a:t>created</a:t>
            </a:r>
            <a:r>
              <a:rPr lang="de-DE" dirty="0"/>
              <a:t>. The Middleware </a:t>
            </a:r>
            <a:r>
              <a:rPr lang="de-DE" dirty="0" err="1"/>
              <a:t>is</a:t>
            </a:r>
            <a:r>
              <a:rPr lang="de-DE" dirty="0"/>
              <a:t> </a:t>
            </a:r>
            <a:r>
              <a:rPr lang="de-DE" dirty="0" err="1"/>
              <a:t>used</a:t>
            </a:r>
            <a:r>
              <a:rPr lang="de-DE" dirty="0"/>
              <a:t> </a:t>
            </a:r>
            <a:r>
              <a:rPr lang="de-DE" dirty="0" err="1"/>
              <a:t>for</a:t>
            </a:r>
            <a:r>
              <a:rPr lang="de-DE" dirty="0"/>
              <a:t> </a:t>
            </a:r>
            <a:r>
              <a:rPr lang="de-DE" dirty="0" err="1"/>
              <a:t>tokenization</a:t>
            </a:r>
            <a:r>
              <a:rPr lang="de-DE" dirty="0"/>
              <a:t> and </a:t>
            </a:r>
            <a:r>
              <a:rPr lang="de-DE" dirty="0" err="1"/>
              <a:t>for</a:t>
            </a:r>
            <a:r>
              <a:rPr lang="de-DE" dirty="0"/>
              <a:t> </a:t>
            </a:r>
            <a:r>
              <a:rPr lang="de-DE" dirty="0" err="1"/>
              <a:t>the</a:t>
            </a:r>
            <a:r>
              <a:rPr lang="de-DE" dirty="0"/>
              <a:t> </a:t>
            </a:r>
            <a:r>
              <a:rPr lang="de-DE" dirty="0" err="1"/>
              <a:t>whole</a:t>
            </a:r>
            <a:r>
              <a:rPr lang="de-DE" dirty="0"/>
              <a:t> Backend </a:t>
            </a:r>
            <a:r>
              <a:rPr lang="de-DE" dirty="0" err="1"/>
              <a:t>side</a:t>
            </a:r>
            <a:r>
              <a:rPr lang="de-DE" dirty="0"/>
              <a:t>.</a:t>
            </a:r>
          </a:p>
          <a:p>
            <a:pPr algn="l"/>
            <a:r>
              <a:rPr lang="de-DE" b="1" dirty="0"/>
              <a:t>Independent </a:t>
            </a:r>
            <a:r>
              <a:rPr lang="de-DE" b="1" dirty="0" err="1"/>
              <a:t>routes</a:t>
            </a:r>
            <a:r>
              <a:rPr lang="de-DE" b="1" dirty="0"/>
              <a:t> </a:t>
            </a:r>
            <a:r>
              <a:rPr lang="de-DE" b="1" dirty="0" err="1"/>
              <a:t>protection</a:t>
            </a:r>
            <a:endParaRPr lang="de-DE" b="1" dirty="0"/>
          </a:p>
          <a:p>
            <a:pPr algn="l"/>
            <a:r>
              <a:rPr lang="de-DE" dirty="0" err="1"/>
              <a:t>There</a:t>
            </a:r>
            <a:r>
              <a:rPr lang="de-DE" dirty="0"/>
              <a:t> </a:t>
            </a:r>
            <a:r>
              <a:rPr lang="de-DE" dirty="0" err="1"/>
              <a:t>are</a:t>
            </a:r>
            <a:r>
              <a:rPr lang="de-DE" dirty="0"/>
              <a:t> </a:t>
            </a:r>
            <a:r>
              <a:rPr lang="de-DE" dirty="0" err="1"/>
              <a:t>part</a:t>
            </a:r>
            <a:r>
              <a:rPr lang="de-DE" dirty="0"/>
              <a:t> </a:t>
            </a:r>
            <a:r>
              <a:rPr lang="de-DE" dirty="0" err="1"/>
              <a:t>of</a:t>
            </a:r>
            <a:r>
              <a:rPr lang="de-DE" dirty="0"/>
              <a:t> </a:t>
            </a:r>
            <a:r>
              <a:rPr lang="de-DE" dirty="0" err="1"/>
              <a:t>routes</a:t>
            </a:r>
            <a:r>
              <a:rPr lang="de-DE" dirty="0"/>
              <a:t> </a:t>
            </a:r>
            <a:r>
              <a:rPr lang="de-DE" dirty="0" err="1"/>
              <a:t>which</a:t>
            </a:r>
            <a:r>
              <a:rPr lang="de-DE" dirty="0"/>
              <a:t> </a:t>
            </a:r>
            <a:r>
              <a:rPr lang="de-DE" dirty="0" err="1"/>
              <a:t>are</a:t>
            </a:r>
            <a:r>
              <a:rPr lang="de-DE" dirty="0"/>
              <a:t> </a:t>
            </a:r>
            <a:r>
              <a:rPr lang="de-DE" dirty="0" err="1"/>
              <a:t>protected</a:t>
            </a:r>
            <a:r>
              <a:rPr lang="de-DE" dirty="0"/>
              <a:t> </a:t>
            </a:r>
            <a:r>
              <a:rPr lang="de-DE" dirty="0" err="1"/>
              <a:t>independently</a:t>
            </a:r>
            <a:r>
              <a:rPr lang="de-DE" dirty="0"/>
              <a:t> </a:t>
            </a:r>
            <a:r>
              <a:rPr lang="de-DE" dirty="0" err="1"/>
              <a:t>by</a:t>
            </a:r>
            <a:r>
              <a:rPr lang="de-DE" dirty="0"/>
              <a:t> </a:t>
            </a:r>
            <a:r>
              <a:rPr lang="de-DE" b="1" dirty="0" err="1"/>
              <a:t>requirePermission</a:t>
            </a:r>
            <a:r>
              <a:rPr lang="de-DE" dirty="0"/>
              <a:t> </a:t>
            </a:r>
            <a:r>
              <a:rPr lang="de-DE" dirty="0" err="1"/>
              <a:t>function</a:t>
            </a:r>
            <a:r>
              <a:rPr lang="de-DE" dirty="0"/>
              <a:t> </a:t>
            </a:r>
            <a:r>
              <a:rPr lang="de-DE" dirty="0" err="1"/>
              <a:t>created</a:t>
            </a:r>
            <a:r>
              <a:rPr lang="de-DE" dirty="0"/>
              <a:t> in </a:t>
            </a:r>
            <a:r>
              <a:rPr lang="de-DE" dirty="0" err="1"/>
              <a:t>authentification</a:t>
            </a:r>
            <a:r>
              <a:rPr lang="de-DE" dirty="0"/>
              <a:t> </a:t>
            </a:r>
            <a:r>
              <a:rPr lang="de-DE" dirty="0" err="1"/>
              <a:t>middleware</a:t>
            </a:r>
            <a:r>
              <a:rPr lang="de-DE" dirty="0"/>
              <a:t> code. The </a:t>
            </a:r>
            <a:r>
              <a:rPr lang="de-DE" dirty="0" err="1"/>
              <a:t>permission</a:t>
            </a:r>
            <a:r>
              <a:rPr lang="de-DE" dirty="0"/>
              <a:t> </a:t>
            </a:r>
            <a:r>
              <a:rPr lang="de-DE" dirty="0" err="1"/>
              <a:t>parameters</a:t>
            </a:r>
            <a:r>
              <a:rPr lang="de-DE" dirty="0"/>
              <a:t> </a:t>
            </a:r>
            <a:r>
              <a:rPr lang="de-DE" dirty="0" err="1"/>
              <a:t>are</a:t>
            </a:r>
            <a:r>
              <a:rPr lang="de-DE" dirty="0"/>
              <a:t> </a:t>
            </a:r>
            <a:r>
              <a:rPr lang="de-DE" dirty="0" err="1"/>
              <a:t>based</a:t>
            </a:r>
            <a:r>
              <a:rPr lang="de-DE" dirty="0"/>
              <a:t> on </a:t>
            </a:r>
            <a:r>
              <a:rPr lang="de-DE" b="1" dirty="0" err="1"/>
              <a:t>occupation_codes</a:t>
            </a:r>
            <a:r>
              <a:rPr lang="de-DE" dirty="0"/>
              <a:t> </a:t>
            </a:r>
            <a:r>
              <a:rPr lang="de-DE" dirty="0" err="1"/>
              <a:t>table</a:t>
            </a:r>
            <a:r>
              <a:rPr lang="de-DE" dirty="0"/>
              <a:t> in </a:t>
            </a:r>
            <a:r>
              <a:rPr lang="de-DE" dirty="0" err="1"/>
              <a:t>the</a:t>
            </a:r>
            <a:r>
              <a:rPr lang="de-DE" dirty="0"/>
              <a:t> Database. This </a:t>
            </a:r>
            <a:r>
              <a:rPr lang="de-DE" dirty="0" err="1"/>
              <a:t>solution</a:t>
            </a:r>
            <a:r>
              <a:rPr lang="de-DE" dirty="0"/>
              <a:t> </a:t>
            </a:r>
            <a:r>
              <a:rPr lang="de-DE" dirty="0" err="1"/>
              <a:t>creates</a:t>
            </a:r>
            <a:r>
              <a:rPr lang="de-DE" dirty="0"/>
              <a:t> double </a:t>
            </a:r>
            <a:r>
              <a:rPr lang="de-DE" dirty="0" err="1"/>
              <a:t>protection</a:t>
            </a:r>
            <a:r>
              <a:rPr lang="de-DE" dirty="0"/>
              <a:t> </a:t>
            </a:r>
            <a:r>
              <a:rPr lang="de-DE" dirty="0" err="1"/>
              <a:t>of</a:t>
            </a:r>
            <a:r>
              <a:rPr lang="de-DE" dirty="0"/>
              <a:t> </a:t>
            </a:r>
            <a:r>
              <a:rPr lang="de-DE" dirty="0" err="1"/>
              <a:t>database</a:t>
            </a:r>
            <a:r>
              <a:rPr lang="de-DE" dirty="0"/>
              <a:t> </a:t>
            </a:r>
            <a:r>
              <a:rPr lang="de-DE" dirty="0" err="1"/>
              <a:t>operations</a:t>
            </a:r>
            <a:r>
              <a:rPr lang="de-DE" dirty="0"/>
              <a:t> (in </a:t>
            </a:r>
            <a:r>
              <a:rPr lang="de-DE" dirty="0" err="1"/>
              <a:t>addition</a:t>
            </a:r>
            <a:r>
              <a:rPr lang="de-DE" dirty="0"/>
              <a:t> </a:t>
            </a:r>
            <a:r>
              <a:rPr lang="de-DE" dirty="0" err="1"/>
              <a:t>to</a:t>
            </a:r>
            <a:r>
              <a:rPr lang="de-DE" dirty="0"/>
              <a:t> </a:t>
            </a:r>
            <a:r>
              <a:rPr lang="de-DE" dirty="0" err="1"/>
              <a:t>existing</a:t>
            </a:r>
            <a:r>
              <a:rPr lang="de-DE" dirty="0"/>
              <a:t> SQL </a:t>
            </a:r>
            <a:r>
              <a:rPr lang="de-DE" dirty="0" err="1"/>
              <a:t>restrictions</a:t>
            </a:r>
            <a:r>
              <a:rPr lang="de-DE" dirty="0"/>
              <a:t>).</a:t>
            </a:r>
          </a:p>
          <a:p>
            <a:pPr algn="l"/>
            <a:r>
              <a:rPr lang="de-DE" b="1" dirty="0"/>
              <a:t>Model &gt; Controller &gt; Router </a:t>
            </a:r>
            <a:r>
              <a:rPr lang="de-DE" b="1" dirty="0" err="1"/>
              <a:t>model</a:t>
            </a:r>
            <a:r>
              <a:rPr lang="de-DE" b="1" dirty="0"/>
              <a:t> – </a:t>
            </a:r>
            <a:r>
              <a:rPr lang="de-DE" dirty="0"/>
              <a:t>was </a:t>
            </a:r>
            <a:r>
              <a:rPr lang="de-DE" dirty="0" err="1"/>
              <a:t>implemented</a:t>
            </a:r>
            <a:r>
              <a:rPr lang="de-DE" dirty="0"/>
              <a:t> </a:t>
            </a:r>
            <a:r>
              <a:rPr lang="de-DE" dirty="0" err="1"/>
              <a:t>while</a:t>
            </a:r>
            <a:r>
              <a:rPr lang="de-DE" dirty="0"/>
              <a:t> </a:t>
            </a:r>
            <a:r>
              <a:rPr lang="de-DE" dirty="0" err="1"/>
              <a:t>coding</a:t>
            </a:r>
            <a:r>
              <a:rPr lang="de-DE" dirty="0"/>
              <a:t> backend </a:t>
            </a:r>
            <a:r>
              <a:rPr lang="de-DE" dirty="0" err="1"/>
              <a:t>side</a:t>
            </a:r>
            <a:r>
              <a:rPr lang="de-DE" dirty="0"/>
              <a:t>. Models </a:t>
            </a:r>
            <a:r>
              <a:rPr lang="de-DE" dirty="0" err="1"/>
              <a:t>contain</a:t>
            </a:r>
            <a:r>
              <a:rPr lang="de-DE" dirty="0"/>
              <a:t> all SQL </a:t>
            </a:r>
            <a:r>
              <a:rPr lang="de-DE" dirty="0" err="1"/>
              <a:t>calling</a:t>
            </a:r>
            <a:r>
              <a:rPr lang="de-DE" dirty="0"/>
              <a:t> </a:t>
            </a:r>
            <a:r>
              <a:rPr lang="de-DE" dirty="0" err="1"/>
              <a:t>functions</a:t>
            </a:r>
            <a:r>
              <a:rPr lang="de-DE" dirty="0"/>
              <a:t> </a:t>
            </a:r>
            <a:r>
              <a:rPr lang="de-DE" dirty="0" err="1"/>
              <a:t>for</a:t>
            </a:r>
            <a:r>
              <a:rPr lang="de-DE" dirty="0"/>
              <a:t> </a:t>
            </a:r>
            <a:r>
              <a:rPr lang="de-DE" dirty="0" err="1"/>
              <a:t>each</a:t>
            </a:r>
            <a:r>
              <a:rPr lang="de-DE" dirty="0"/>
              <a:t> </a:t>
            </a:r>
            <a:r>
              <a:rPr lang="de-DE" dirty="0" err="1"/>
              <a:t>action</a:t>
            </a:r>
            <a:r>
              <a:rPr lang="de-DE" dirty="0"/>
              <a:t>, Controllers </a:t>
            </a:r>
            <a:r>
              <a:rPr lang="de-DE" dirty="0" err="1"/>
              <a:t>wire</a:t>
            </a:r>
            <a:r>
              <a:rPr lang="de-DE" dirty="0"/>
              <a:t> </a:t>
            </a:r>
            <a:r>
              <a:rPr lang="de-DE" dirty="0" err="1"/>
              <a:t>the</a:t>
            </a:r>
            <a:r>
              <a:rPr lang="de-DE" dirty="0"/>
              <a:t> </a:t>
            </a:r>
            <a:r>
              <a:rPr lang="de-DE" dirty="0" err="1"/>
              <a:t>models</a:t>
            </a:r>
            <a:r>
              <a:rPr lang="de-DE" dirty="0"/>
              <a:t> </a:t>
            </a:r>
            <a:r>
              <a:rPr lang="de-DE" dirty="0" err="1"/>
              <a:t>with</a:t>
            </a:r>
            <a:r>
              <a:rPr lang="de-DE" dirty="0"/>
              <a:t> </a:t>
            </a:r>
            <a:r>
              <a:rPr lang="de-DE" dirty="0" err="1"/>
              <a:t>the</a:t>
            </a:r>
            <a:r>
              <a:rPr lang="de-DE" dirty="0"/>
              <a:t> </a:t>
            </a:r>
            <a:r>
              <a:rPr lang="de-DE" dirty="0" err="1"/>
              <a:t>server</a:t>
            </a:r>
            <a:r>
              <a:rPr lang="de-DE" dirty="0"/>
              <a:t>, </a:t>
            </a:r>
            <a:r>
              <a:rPr lang="de-DE" dirty="0" err="1"/>
              <a:t>unifying</a:t>
            </a:r>
            <a:r>
              <a:rPr lang="de-DE" dirty="0"/>
              <a:t> </a:t>
            </a:r>
            <a:r>
              <a:rPr lang="de-DE" dirty="0" err="1"/>
              <a:t>models</a:t>
            </a:r>
            <a:r>
              <a:rPr lang="de-DE" dirty="0"/>
              <a:t> </a:t>
            </a:r>
            <a:r>
              <a:rPr lang="de-DE" dirty="0" err="1"/>
              <a:t>related</a:t>
            </a:r>
            <a:r>
              <a:rPr lang="de-DE" dirty="0"/>
              <a:t> </a:t>
            </a:r>
            <a:r>
              <a:rPr lang="de-DE" dirty="0" err="1"/>
              <a:t>to</a:t>
            </a:r>
            <a:r>
              <a:rPr lang="de-DE" dirty="0"/>
              <a:t> </a:t>
            </a:r>
            <a:r>
              <a:rPr lang="de-DE" dirty="0" err="1"/>
              <a:t>the</a:t>
            </a:r>
            <a:r>
              <a:rPr lang="de-DE" dirty="0"/>
              <a:t> same </a:t>
            </a:r>
            <a:r>
              <a:rPr lang="de-DE" dirty="0" err="1"/>
              <a:t>functional</a:t>
            </a:r>
            <a:r>
              <a:rPr lang="de-DE" dirty="0"/>
              <a:t> </a:t>
            </a:r>
            <a:r>
              <a:rPr lang="de-DE" dirty="0" err="1"/>
              <a:t>family</a:t>
            </a:r>
            <a:r>
              <a:rPr lang="de-DE" dirty="0"/>
              <a:t>, and </a:t>
            </a:r>
            <a:r>
              <a:rPr lang="de-DE" dirty="0" err="1"/>
              <a:t>Routes</a:t>
            </a:r>
            <a:r>
              <a:rPr lang="de-DE" dirty="0"/>
              <a:t> </a:t>
            </a:r>
            <a:r>
              <a:rPr lang="de-DE" dirty="0" err="1"/>
              <a:t>declare</a:t>
            </a:r>
            <a:r>
              <a:rPr lang="de-DE" dirty="0"/>
              <a:t> </a:t>
            </a:r>
            <a:r>
              <a:rPr lang="de-DE" dirty="0" err="1"/>
              <a:t>methods</a:t>
            </a:r>
            <a:r>
              <a:rPr lang="de-DE" dirty="0"/>
              <a:t> and </a:t>
            </a:r>
            <a:r>
              <a:rPr lang="de-DE" dirty="0" err="1"/>
              <a:t>routes</a:t>
            </a:r>
            <a:r>
              <a:rPr lang="de-DE" dirty="0"/>
              <a:t> </a:t>
            </a:r>
            <a:r>
              <a:rPr lang="de-DE" dirty="0" err="1"/>
              <a:t>for</a:t>
            </a:r>
            <a:r>
              <a:rPr lang="de-DE" dirty="0"/>
              <a:t> </a:t>
            </a:r>
            <a:r>
              <a:rPr lang="de-DE" dirty="0" err="1"/>
              <a:t>each</a:t>
            </a:r>
            <a:r>
              <a:rPr lang="de-DE" dirty="0"/>
              <a:t> </a:t>
            </a:r>
            <a:r>
              <a:rPr lang="de-DE" dirty="0" err="1"/>
              <a:t>controller</a:t>
            </a:r>
            <a:r>
              <a:rPr lang="de-DE" dirty="0"/>
              <a:t>.</a:t>
            </a:r>
            <a:endParaRPr lang="de-DE" b="1" dirty="0"/>
          </a:p>
          <a:p>
            <a:pPr algn="l"/>
            <a:endParaRPr lang="de-DE" dirty="0"/>
          </a:p>
          <a:p>
            <a:pPr algn="l"/>
            <a:endParaRPr lang="de-DE" dirty="0"/>
          </a:p>
        </p:txBody>
      </p:sp>
    </p:spTree>
    <p:extLst>
      <p:ext uri="{BB962C8B-B14F-4D97-AF65-F5344CB8AC3E}">
        <p14:creationId xmlns:p14="http://schemas.microsoft.com/office/powerpoint/2010/main" val="2341682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A09BF-A5B6-9B80-C576-ABD4D9FDD108}"/>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30B6B1C6-AFC3-D8CB-46A7-AAD0C170AC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Місце для вмісту 7">
            <a:extLst>
              <a:ext uri="{FF2B5EF4-FFF2-40B4-BE49-F238E27FC236}">
                <a16:creationId xmlns:a16="http://schemas.microsoft.com/office/drawing/2014/main" id="{A7AF3ADF-8CEE-7763-C5A4-09FBE6453964}"/>
              </a:ext>
            </a:extLst>
          </p:cNvPr>
          <p:cNvSpPr txBox="1">
            <a:spLocks/>
          </p:cNvSpPr>
          <p:nvPr/>
        </p:nvSpPr>
        <p:spPr>
          <a:xfrm>
            <a:off x="263712" y="168812"/>
            <a:ext cx="11664576" cy="6428935"/>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de-DE" b="1" dirty="0"/>
              <a:t>Frontend</a:t>
            </a:r>
          </a:p>
          <a:p>
            <a:pPr algn="l"/>
            <a:r>
              <a:rPr lang="de-DE" dirty="0" err="1"/>
              <a:t>To</a:t>
            </a:r>
            <a:r>
              <a:rPr lang="de-DE" dirty="0"/>
              <a:t> </a:t>
            </a:r>
            <a:r>
              <a:rPr lang="de-DE" dirty="0" err="1"/>
              <a:t>make</a:t>
            </a:r>
            <a:r>
              <a:rPr lang="de-DE" dirty="0"/>
              <a:t> </a:t>
            </a:r>
            <a:r>
              <a:rPr lang="de-DE" dirty="0" err="1"/>
              <a:t>the</a:t>
            </a:r>
            <a:r>
              <a:rPr lang="de-DE" dirty="0"/>
              <a:t> interface </a:t>
            </a:r>
            <a:r>
              <a:rPr lang="de-DE" dirty="0" err="1"/>
              <a:t>coding</a:t>
            </a:r>
            <a:r>
              <a:rPr lang="de-DE" dirty="0"/>
              <a:t> </a:t>
            </a:r>
            <a:r>
              <a:rPr lang="de-DE" dirty="0" err="1"/>
              <a:t>more</a:t>
            </a:r>
            <a:r>
              <a:rPr lang="de-DE" dirty="0"/>
              <a:t> time-</a:t>
            </a:r>
            <a:r>
              <a:rPr lang="de-DE" dirty="0" err="1"/>
              <a:t>efficient</a:t>
            </a:r>
            <a:r>
              <a:rPr lang="de-DE" dirty="0"/>
              <a:t> and </a:t>
            </a:r>
            <a:r>
              <a:rPr lang="de-DE" dirty="0" err="1"/>
              <a:t>unified</a:t>
            </a:r>
            <a:r>
              <a:rPr lang="de-DE" dirty="0"/>
              <a:t>, </a:t>
            </a:r>
            <a:r>
              <a:rPr lang="de-DE" dirty="0" err="1"/>
              <a:t>the</a:t>
            </a:r>
            <a:r>
              <a:rPr lang="de-DE" dirty="0"/>
              <a:t> React Vite </a:t>
            </a:r>
            <a:r>
              <a:rPr lang="de-DE" dirty="0" err="1"/>
              <a:t>module</a:t>
            </a:r>
            <a:r>
              <a:rPr lang="de-DE" dirty="0"/>
              <a:t> was </a:t>
            </a:r>
            <a:r>
              <a:rPr lang="de-DE" dirty="0" err="1"/>
              <a:t>used</a:t>
            </a:r>
            <a:r>
              <a:rPr lang="de-DE" dirty="0"/>
              <a:t>. The design was not </a:t>
            </a:r>
            <a:r>
              <a:rPr lang="de-DE" dirty="0" err="1"/>
              <a:t>based</a:t>
            </a:r>
            <a:r>
              <a:rPr lang="de-DE" dirty="0"/>
              <a:t> on </a:t>
            </a:r>
            <a:r>
              <a:rPr lang="de-DE" dirty="0" err="1"/>
              <a:t>any</a:t>
            </a:r>
            <a:r>
              <a:rPr lang="de-DE" dirty="0"/>
              <a:t> CSS </a:t>
            </a:r>
            <a:r>
              <a:rPr lang="de-DE" dirty="0" err="1"/>
              <a:t>engine</a:t>
            </a:r>
            <a:r>
              <a:rPr lang="de-DE" dirty="0"/>
              <a:t> such </a:t>
            </a:r>
            <a:r>
              <a:rPr lang="de-DE" dirty="0" err="1"/>
              <a:t>as</a:t>
            </a:r>
            <a:r>
              <a:rPr lang="de-DE" dirty="0"/>
              <a:t> Bootstrap, but on </a:t>
            </a:r>
            <a:r>
              <a:rPr lang="de-DE" dirty="0" err="1"/>
              <a:t>standart</a:t>
            </a:r>
            <a:r>
              <a:rPr lang="de-DE" dirty="0"/>
              <a:t> Vite </a:t>
            </a:r>
            <a:r>
              <a:rPr lang="de-DE" dirty="0" err="1"/>
              <a:t>frames</a:t>
            </a:r>
            <a:r>
              <a:rPr lang="de-DE" dirty="0"/>
              <a:t>, </a:t>
            </a:r>
            <a:r>
              <a:rPr lang="de-DE" dirty="0" err="1"/>
              <a:t>removing</a:t>
            </a:r>
            <a:r>
              <a:rPr lang="de-DE" dirty="0"/>
              <a:t> </a:t>
            </a:r>
            <a:r>
              <a:rPr lang="de-DE" dirty="0" err="1"/>
              <a:t>some</a:t>
            </a:r>
            <a:r>
              <a:rPr lang="de-DE" dirty="0"/>
              <a:t> </a:t>
            </a:r>
            <a:r>
              <a:rPr lang="de-DE" dirty="0" err="1"/>
              <a:t>elements</a:t>
            </a:r>
            <a:r>
              <a:rPr lang="de-DE" dirty="0"/>
              <a:t> like a double-</a:t>
            </a:r>
            <a:r>
              <a:rPr lang="de-DE" dirty="0" err="1"/>
              <a:t>sided</a:t>
            </a:r>
            <a:r>
              <a:rPr lang="de-DE"/>
              <a:t> Vite frame.</a:t>
            </a:r>
          </a:p>
          <a:p>
            <a:pPr algn="l"/>
            <a:endParaRPr lang="de-DE" dirty="0"/>
          </a:p>
        </p:txBody>
      </p:sp>
    </p:spTree>
    <p:extLst>
      <p:ext uri="{BB962C8B-B14F-4D97-AF65-F5344CB8AC3E}">
        <p14:creationId xmlns:p14="http://schemas.microsoft.com/office/powerpoint/2010/main" val="289096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B31AF4-EA08-6CA9-6330-608EBA08FB6E}"/>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6E4E1206-301B-2D32-7AF4-939C486292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83B5AAB5-344D-64EF-AFDD-9813442463ED}"/>
              </a:ext>
            </a:extLst>
          </p:cNvPr>
          <p:cNvSpPr>
            <a:spLocks noGrp="1"/>
          </p:cNvSpPr>
          <p:nvPr>
            <p:ph type="ctrTitle"/>
          </p:nvPr>
        </p:nvSpPr>
        <p:spPr>
          <a:xfrm>
            <a:off x="263712" y="185012"/>
            <a:ext cx="4630730" cy="714685"/>
          </a:xfrm>
          <a:solidFill>
            <a:srgbClr val="FFFFFF">
              <a:alpha val="50196"/>
            </a:srgbClr>
          </a:solidFill>
        </p:spPr>
        <p:txBody>
          <a:bodyPr>
            <a:normAutofit/>
          </a:bodyPr>
          <a:lstStyle/>
          <a:p>
            <a:r>
              <a:rPr lang="en-US" sz="3600" b="1" dirty="0"/>
              <a:t>6. Future steps</a:t>
            </a:r>
            <a:endParaRPr lang="uk-UA" sz="3600" b="1" dirty="0"/>
          </a:p>
        </p:txBody>
      </p:sp>
      <p:sp>
        <p:nvSpPr>
          <p:cNvPr id="8" name="Місце для вмісту 7">
            <a:extLst>
              <a:ext uri="{FF2B5EF4-FFF2-40B4-BE49-F238E27FC236}">
                <a16:creationId xmlns:a16="http://schemas.microsoft.com/office/drawing/2014/main" id="{862DB80B-3333-331F-B219-3D7CCF8675EE}"/>
              </a:ext>
            </a:extLst>
          </p:cNvPr>
          <p:cNvSpPr txBox="1">
            <a:spLocks/>
          </p:cNvSpPr>
          <p:nvPr/>
        </p:nvSpPr>
        <p:spPr>
          <a:xfrm>
            <a:off x="263712" y="1159950"/>
            <a:ext cx="11664576" cy="5437797"/>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 add a “new logistic operation card” which will let to write down few goods movement operations and log them to the logistic tab at one moment;</a:t>
            </a:r>
          </a:p>
          <a:p>
            <a:pPr algn="l"/>
            <a:r>
              <a:rPr lang="en-US" dirty="0"/>
              <a:t> - separate operation 20 (departed) into: departed to the outside company; departed into intra-company warehouse;</a:t>
            </a:r>
          </a:p>
          <a:p>
            <a:pPr algn="l"/>
            <a:r>
              <a:rPr lang="en-US" dirty="0"/>
              <a:t> - add “Track intra-company warehouses” (available for the manager only!)</a:t>
            </a:r>
          </a:p>
          <a:p>
            <a:pPr algn="l"/>
            <a:r>
              <a:rPr lang="en-US" dirty="0"/>
              <a:t> - create version for smartphones and tablets;</a:t>
            </a:r>
          </a:p>
          <a:p>
            <a:pPr algn="l"/>
            <a:r>
              <a:rPr lang="en-US" dirty="0"/>
              <a:t> - create structure and logistic operations` names and codes adjustable to each different organization`s needs;</a:t>
            </a:r>
          </a:p>
          <a:p>
            <a:pPr algn="l"/>
            <a:r>
              <a:rPr lang="en-US" dirty="0"/>
              <a:t> - enhance authorization security process;</a:t>
            </a:r>
          </a:p>
          <a:p>
            <a:pPr algn="l"/>
            <a:r>
              <a:rPr lang="en-US" dirty="0"/>
              <a:t> - automatic removing of used refresh tokens (by creating a function and a trigger to remove all used tokens older than a dedicated period, to unload hundreds of non-relevant tokens from the table automatically).</a:t>
            </a:r>
          </a:p>
        </p:txBody>
      </p:sp>
    </p:spTree>
    <p:extLst>
      <p:ext uri="{BB962C8B-B14F-4D97-AF65-F5344CB8AC3E}">
        <p14:creationId xmlns:p14="http://schemas.microsoft.com/office/powerpoint/2010/main" val="31536488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25CCA-E252-5BE4-4D18-66D973A0D390}"/>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F980792C-E03A-9B59-AB9B-556791F434F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12F8582B-B75B-198A-9775-6C20CE1DCEE8}"/>
              </a:ext>
            </a:extLst>
          </p:cNvPr>
          <p:cNvSpPr>
            <a:spLocks noGrp="1"/>
          </p:cNvSpPr>
          <p:nvPr>
            <p:ph type="ctrTitle"/>
          </p:nvPr>
        </p:nvSpPr>
        <p:spPr>
          <a:xfrm>
            <a:off x="263712" y="185012"/>
            <a:ext cx="4630730" cy="714685"/>
          </a:xfrm>
          <a:solidFill>
            <a:srgbClr val="FFFFFF">
              <a:alpha val="50196"/>
            </a:srgbClr>
          </a:solidFill>
        </p:spPr>
        <p:txBody>
          <a:bodyPr>
            <a:normAutofit/>
          </a:bodyPr>
          <a:lstStyle/>
          <a:p>
            <a:r>
              <a:rPr lang="en-US" sz="3600" b="1" dirty="0"/>
              <a:t>7. Summary points</a:t>
            </a:r>
            <a:endParaRPr lang="uk-UA" sz="3600" b="1" dirty="0"/>
          </a:p>
        </p:txBody>
      </p:sp>
      <p:sp>
        <p:nvSpPr>
          <p:cNvPr id="8" name="Місце для вмісту 7">
            <a:extLst>
              <a:ext uri="{FF2B5EF4-FFF2-40B4-BE49-F238E27FC236}">
                <a16:creationId xmlns:a16="http://schemas.microsoft.com/office/drawing/2014/main" id="{0F4EFEF6-4E05-2A58-399D-91FC29992A70}"/>
              </a:ext>
            </a:extLst>
          </p:cNvPr>
          <p:cNvSpPr txBox="1">
            <a:spLocks/>
          </p:cNvSpPr>
          <p:nvPr/>
        </p:nvSpPr>
        <p:spPr>
          <a:xfrm>
            <a:off x="263712" y="2067316"/>
            <a:ext cx="11664576" cy="3623065"/>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lgn="l" eaLnBrk="0" fontAlgn="base" hangingPunct="0">
              <a:lnSpc>
                <a:spcPct val="100000"/>
              </a:lnSpc>
              <a:spcBef>
                <a:spcPct val="0"/>
              </a:spcBef>
              <a:spcAft>
                <a:spcPct val="0"/>
              </a:spcAft>
            </a:pPr>
            <a:r>
              <a:rPr lang="en-US" altLang="uk-UA" sz="2800" dirty="0"/>
              <a:t>There is the importance of SQL-based web apps to load as many functions on database as possible, especially if the mathematic operations are involved. It not only releases backend side developing from extensive coding, but also makes unable to change project`s structure and read-only data via backend code. </a:t>
            </a:r>
          </a:p>
          <a:p>
            <a:pPr lvl="0" algn="l" eaLnBrk="0" fontAlgn="base" hangingPunct="0">
              <a:lnSpc>
                <a:spcPct val="100000"/>
              </a:lnSpc>
              <a:spcBef>
                <a:spcPct val="0"/>
              </a:spcBef>
              <a:spcAft>
                <a:spcPct val="0"/>
              </a:spcAft>
            </a:pPr>
            <a:r>
              <a:rPr lang="en-US" altLang="uk-UA" sz="2800" dirty="0"/>
              <a:t>As it mentioned before, and also because of dashboards and design unification, the app`s performance remains near to instant. Together with simple user-friendly interface, all these factors make the App`s use more time-efficient.</a:t>
            </a:r>
          </a:p>
          <a:p>
            <a:pPr lvl="0" algn="l" eaLnBrk="0" fontAlgn="base" hangingPunct="0">
              <a:lnSpc>
                <a:spcPct val="100000"/>
              </a:lnSpc>
              <a:spcBef>
                <a:spcPct val="0"/>
              </a:spcBef>
              <a:spcAft>
                <a:spcPct val="0"/>
              </a:spcAft>
            </a:pPr>
            <a:endParaRPr lang="en-US" altLang="uk-UA" dirty="0"/>
          </a:p>
        </p:txBody>
      </p:sp>
    </p:spTree>
    <p:extLst>
      <p:ext uri="{BB962C8B-B14F-4D97-AF65-F5344CB8AC3E}">
        <p14:creationId xmlns:p14="http://schemas.microsoft.com/office/powerpoint/2010/main" val="29211774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17E8E-C621-7E97-4FC8-49E9D1848C01}"/>
            </a:ext>
          </a:extLst>
        </p:cNvPr>
        <p:cNvGrpSpPr/>
        <p:nvPr/>
      </p:nvGrpSpPr>
      <p:grpSpPr>
        <a:xfrm>
          <a:off x="0" y="0"/>
          <a:ext cx="0" cy="0"/>
          <a:chOff x="0" y="0"/>
          <a:chExt cx="0" cy="0"/>
        </a:xfrm>
      </p:grpSpPr>
      <p:pic>
        <p:nvPicPr>
          <p:cNvPr id="5" name="Рисунок 4">
            <a:extLst>
              <a:ext uri="{FF2B5EF4-FFF2-40B4-BE49-F238E27FC236}">
                <a16:creationId xmlns:a16="http://schemas.microsoft.com/office/drawing/2014/main" id="{7B05A2BD-BF4F-AB0A-A0A1-C42E6C1F6D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Заголовок 1">
            <a:extLst>
              <a:ext uri="{FF2B5EF4-FFF2-40B4-BE49-F238E27FC236}">
                <a16:creationId xmlns:a16="http://schemas.microsoft.com/office/drawing/2014/main" id="{83DADAB5-F440-6251-02A2-4178DEDAD360}"/>
              </a:ext>
            </a:extLst>
          </p:cNvPr>
          <p:cNvSpPr>
            <a:spLocks noGrp="1"/>
          </p:cNvSpPr>
          <p:nvPr>
            <p:ph type="ctrTitle"/>
          </p:nvPr>
        </p:nvSpPr>
        <p:spPr>
          <a:xfrm>
            <a:off x="263712" y="185012"/>
            <a:ext cx="4630730" cy="714685"/>
          </a:xfrm>
          <a:solidFill>
            <a:srgbClr val="FFFFFF">
              <a:alpha val="50196"/>
            </a:srgbClr>
          </a:solidFill>
        </p:spPr>
        <p:txBody>
          <a:bodyPr>
            <a:normAutofit/>
          </a:bodyPr>
          <a:lstStyle/>
          <a:p>
            <a:r>
              <a:rPr lang="en-US" sz="3600" b="1" dirty="0"/>
              <a:t>8. Conclusions</a:t>
            </a:r>
            <a:endParaRPr lang="uk-UA" sz="3600" b="1" dirty="0"/>
          </a:p>
        </p:txBody>
      </p:sp>
      <p:sp>
        <p:nvSpPr>
          <p:cNvPr id="8" name="Місце для вмісту 7">
            <a:extLst>
              <a:ext uri="{FF2B5EF4-FFF2-40B4-BE49-F238E27FC236}">
                <a16:creationId xmlns:a16="http://schemas.microsoft.com/office/drawing/2014/main" id="{C83340BC-4FC4-C08D-B2A9-83C6AD9A2DE1}"/>
              </a:ext>
            </a:extLst>
          </p:cNvPr>
          <p:cNvSpPr txBox="1">
            <a:spLocks/>
          </p:cNvSpPr>
          <p:nvPr/>
        </p:nvSpPr>
        <p:spPr>
          <a:xfrm>
            <a:off x="263712" y="1159950"/>
            <a:ext cx="11664576" cy="5437797"/>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lvl="0" algn="l" eaLnBrk="0" fontAlgn="base" hangingPunct="0">
              <a:lnSpc>
                <a:spcPct val="100000"/>
              </a:lnSpc>
              <a:spcBef>
                <a:spcPct val="0"/>
              </a:spcBef>
              <a:spcAft>
                <a:spcPct val="0"/>
              </a:spcAft>
            </a:pPr>
            <a:endParaRPr lang="uk-UA" altLang="uk-UA" dirty="0">
              <a:latin typeface="Arial" panose="020B0604020202020204" pitchFamily="34" charset="0"/>
            </a:endParaRPr>
          </a:p>
          <a:p>
            <a:pPr lvl="0" algn="l" eaLnBrk="0" fontAlgn="base" hangingPunct="0">
              <a:lnSpc>
                <a:spcPct val="100000"/>
              </a:lnSpc>
              <a:spcBef>
                <a:spcPct val="0"/>
              </a:spcBef>
              <a:spcAft>
                <a:spcPct val="0"/>
              </a:spcAft>
            </a:pPr>
            <a:r>
              <a:rPr lang="en-US" altLang="uk-UA" dirty="0">
                <a:latin typeface="Arial" panose="020B0604020202020204" pitchFamily="34" charset="0"/>
              </a:rPr>
              <a:t>// </a:t>
            </a:r>
            <a:r>
              <a:rPr lang="uk-UA" altLang="uk-UA" dirty="0" err="1">
                <a:latin typeface="Arial" panose="020B0604020202020204" pitchFamily="34" charset="0"/>
              </a:rPr>
              <a:t>Provide</a:t>
            </a:r>
            <a:r>
              <a:rPr lang="uk-UA" altLang="uk-UA" dirty="0">
                <a:latin typeface="Arial" panose="020B0604020202020204" pitchFamily="34" charset="0"/>
              </a:rPr>
              <a:t> a </a:t>
            </a:r>
            <a:r>
              <a:rPr lang="uk-UA" altLang="uk-UA" dirty="0" err="1">
                <a:latin typeface="Arial" panose="020B0604020202020204" pitchFamily="34" charset="0"/>
              </a:rPr>
              <a:t>concise</a:t>
            </a:r>
            <a:r>
              <a:rPr lang="uk-UA" altLang="uk-UA" dirty="0">
                <a:latin typeface="Arial" panose="020B0604020202020204" pitchFamily="34" charset="0"/>
              </a:rPr>
              <a:t> </a:t>
            </a:r>
            <a:r>
              <a:rPr lang="uk-UA" altLang="uk-UA" dirty="0" err="1">
                <a:latin typeface="Arial" panose="020B0604020202020204" pitchFamily="34" charset="0"/>
              </a:rPr>
              <a:t>conclusion</a:t>
            </a:r>
            <a:r>
              <a:rPr lang="uk-UA" altLang="uk-UA" dirty="0">
                <a:latin typeface="Arial" panose="020B0604020202020204" pitchFamily="34" charset="0"/>
              </a:rPr>
              <a:t> </a:t>
            </a:r>
            <a:r>
              <a:rPr lang="uk-UA" altLang="uk-UA" dirty="0" err="1">
                <a:latin typeface="Arial" panose="020B0604020202020204" pitchFamily="34" charset="0"/>
              </a:rPr>
              <a:t>to</a:t>
            </a:r>
            <a:r>
              <a:rPr lang="uk-UA" altLang="uk-UA" dirty="0">
                <a:latin typeface="Arial" panose="020B0604020202020204" pitchFamily="34" charset="0"/>
              </a:rPr>
              <a:t> </a:t>
            </a:r>
            <a:r>
              <a:rPr lang="uk-UA" altLang="uk-UA" dirty="0" err="1">
                <a:latin typeface="Arial" panose="020B0604020202020204" pitchFamily="34" charset="0"/>
              </a:rPr>
              <a:t>your</a:t>
            </a:r>
            <a:r>
              <a:rPr lang="uk-UA" altLang="uk-UA" dirty="0">
                <a:latin typeface="Arial" panose="020B0604020202020204" pitchFamily="34" charset="0"/>
              </a:rPr>
              <a:t> </a:t>
            </a:r>
            <a:r>
              <a:rPr lang="uk-UA" altLang="uk-UA" dirty="0" err="1">
                <a:latin typeface="Arial" panose="020B0604020202020204" pitchFamily="34" charset="0"/>
              </a:rPr>
              <a:t>presentation</a:t>
            </a:r>
            <a:r>
              <a:rPr lang="uk-UA" altLang="uk-UA" dirty="0">
                <a:latin typeface="Arial" panose="020B0604020202020204" pitchFamily="34" charset="0"/>
              </a:rPr>
              <a:t>. </a:t>
            </a:r>
          </a:p>
          <a:p>
            <a:pPr lvl="0" algn="l" eaLnBrk="0" fontAlgn="base" hangingPunct="0">
              <a:lnSpc>
                <a:spcPct val="100000"/>
              </a:lnSpc>
              <a:spcBef>
                <a:spcPct val="0"/>
              </a:spcBef>
              <a:spcAft>
                <a:spcPct val="0"/>
              </a:spcAft>
            </a:pPr>
            <a:r>
              <a:rPr lang="en-US" altLang="uk-UA" dirty="0">
                <a:latin typeface="Arial" panose="020B0604020202020204" pitchFamily="34" charset="0"/>
              </a:rPr>
              <a:t>// </a:t>
            </a:r>
            <a:r>
              <a:rPr lang="uk-UA" altLang="uk-UA" dirty="0" err="1">
                <a:latin typeface="Arial" panose="020B0604020202020204" pitchFamily="34" charset="0"/>
              </a:rPr>
              <a:t>Emphasize</a:t>
            </a:r>
            <a:r>
              <a:rPr lang="uk-UA" altLang="uk-UA" dirty="0">
                <a:latin typeface="Arial" panose="020B0604020202020204" pitchFamily="34" charset="0"/>
              </a:rPr>
              <a:t> </a:t>
            </a:r>
            <a:r>
              <a:rPr lang="uk-UA" altLang="uk-UA" dirty="0" err="1">
                <a:latin typeface="Arial" panose="020B0604020202020204" pitchFamily="34" charset="0"/>
              </a:rPr>
              <a:t>the</a:t>
            </a:r>
            <a:r>
              <a:rPr lang="uk-UA" altLang="uk-UA" dirty="0">
                <a:latin typeface="Arial" panose="020B0604020202020204" pitchFamily="34" charset="0"/>
              </a:rPr>
              <a:t> </a:t>
            </a:r>
            <a:r>
              <a:rPr lang="uk-UA" altLang="uk-UA" dirty="0" err="1">
                <a:latin typeface="Arial" panose="020B0604020202020204" pitchFamily="34" charset="0"/>
              </a:rPr>
              <a:t>impact</a:t>
            </a:r>
            <a:r>
              <a:rPr lang="uk-UA" altLang="uk-UA" dirty="0">
                <a:latin typeface="Arial" panose="020B0604020202020204" pitchFamily="34" charset="0"/>
              </a:rPr>
              <a:t> </a:t>
            </a:r>
            <a:r>
              <a:rPr lang="uk-UA" altLang="uk-UA" dirty="0" err="1">
                <a:latin typeface="Arial" panose="020B0604020202020204" pitchFamily="34" charset="0"/>
              </a:rPr>
              <a:t>of</a:t>
            </a:r>
            <a:r>
              <a:rPr lang="uk-UA" altLang="uk-UA" dirty="0">
                <a:latin typeface="Arial" panose="020B0604020202020204" pitchFamily="34" charset="0"/>
              </a:rPr>
              <a:t> </a:t>
            </a:r>
            <a:r>
              <a:rPr lang="uk-UA" altLang="uk-UA" dirty="0" err="1">
                <a:latin typeface="Arial" panose="020B0604020202020204" pitchFamily="34" charset="0"/>
              </a:rPr>
              <a:t>your</a:t>
            </a:r>
            <a:r>
              <a:rPr lang="uk-UA" altLang="uk-UA" dirty="0">
                <a:latin typeface="Arial" panose="020B0604020202020204" pitchFamily="34" charset="0"/>
              </a:rPr>
              <a:t> </a:t>
            </a:r>
            <a:r>
              <a:rPr lang="uk-UA" altLang="uk-UA" dirty="0" err="1">
                <a:latin typeface="Arial" panose="020B0604020202020204" pitchFamily="34" charset="0"/>
              </a:rPr>
              <a:t>project</a:t>
            </a:r>
            <a:r>
              <a:rPr lang="uk-UA" altLang="uk-UA" dirty="0">
                <a:latin typeface="Arial" panose="020B0604020202020204" pitchFamily="34" charset="0"/>
              </a:rPr>
              <a:t> </a:t>
            </a:r>
            <a:r>
              <a:rPr lang="uk-UA" altLang="uk-UA" dirty="0" err="1">
                <a:latin typeface="Arial" panose="020B0604020202020204" pitchFamily="34" charset="0"/>
              </a:rPr>
              <a:t>and</a:t>
            </a:r>
            <a:r>
              <a:rPr lang="uk-UA" altLang="uk-UA" dirty="0">
                <a:latin typeface="Arial" panose="020B0604020202020204" pitchFamily="34" charset="0"/>
              </a:rPr>
              <a:t> </a:t>
            </a:r>
            <a:r>
              <a:rPr lang="uk-UA" altLang="uk-UA" dirty="0" err="1">
                <a:latin typeface="Arial" panose="020B0604020202020204" pitchFamily="34" charset="0"/>
              </a:rPr>
              <a:t>its</a:t>
            </a:r>
            <a:r>
              <a:rPr lang="uk-UA" altLang="uk-UA" dirty="0">
                <a:latin typeface="Arial" panose="020B0604020202020204" pitchFamily="34" charset="0"/>
              </a:rPr>
              <a:t> </a:t>
            </a:r>
            <a:r>
              <a:rPr lang="uk-UA" altLang="uk-UA" dirty="0" err="1">
                <a:latin typeface="Arial" panose="020B0604020202020204" pitchFamily="34" charset="0"/>
              </a:rPr>
              <a:t>contribution</a:t>
            </a:r>
            <a:r>
              <a:rPr lang="uk-UA" altLang="uk-UA" dirty="0">
                <a:latin typeface="Arial" panose="020B0604020202020204" pitchFamily="34" charset="0"/>
              </a:rPr>
              <a:t>.</a:t>
            </a:r>
          </a:p>
        </p:txBody>
      </p:sp>
    </p:spTree>
    <p:extLst>
      <p:ext uri="{BB962C8B-B14F-4D97-AF65-F5344CB8AC3E}">
        <p14:creationId xmlns:p14="http://schemas.microsoft.com/office/powerpoint/2010/main" val="4900077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49F98A-60A9-CA94-FF5A-2F1482446DAE}"/>
            </a:ext>
          </a:extLst>
        </p:cNvPr>
        <p:cNvGrpSpPr/>
        <p:nvPr/>
      </p:nvGrpSpPr>
      <p:grpSpPr>
        <a:xfrm>
          <a:off x="0" y="0"/>
          <a:ext cx="0" cy="0"/>
          <a:chOff x="0" y="0"/>
          <a:chExt cx="0" cy="0"/>
        </a:xfrm>
      </p:grpSpPr>
      <p:pic>
        <p:nvPicPr>
          <p:cNvPr id="10" name="Рисунок 9">
            <a:extLst>
              <a:ext uri="{FF2B5EF4-FFF2-40B4-BE49-F238E27FC236}">
                <a16:creationId xmlns:a16="http://schemas.microsoft.com/office/drawing/2014/main" id="{A74F3C31-C101-EF78-B43F-DEA958A8E3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1" name="Заголовок 1">
            <a:extLst>
              <a:ext uri="{FF2B5EF4-FFF2-40B4-BE49-F238E27FC236}">
                <a16:creationId xmlns:a16="http://schemas.microsoft.com/office/drawing/2014/main" id="{3B221176-3889-D2E8-B8A1-2BC332FF87F4}"/>
              </a:ext>
            </a:extLst>
          </p:cNvPr>
          <p:cNvSpPr>
            <a:spLocks noGrp="1"/>
          </p:cNvSpPr>
          <p:nvPr>
            <p:ph type="ctrTitle"/>
          </p:nvPr>
        </p:nvSpPr>
        <p:spPr>
          <a:xfrm>
            <a:off x="443618" y="509666"/>
            <a:ext cx="11304763" cy="944380"/>
          </a:xfrm>
          <a:solidFill>
            <a:srgbClr val="FFFFFF">
              <a:alpha val="40000"/>
            </a:srgbClr>
          </a:solidFill>
        </p:spPr>
        <p:txBody>
          <a:bodyPr>
            <a:normAutofit/>
          </a:bodyPr>
          <a:lstStyle/>
          <a:p>
            <a:r>
              <a:rPr lang="en-US" sz="4800" b="1" dirty="0"/>
              <a:t>Thank you for watching!</a:t>
            </a:r>
            <a:endParaRPr lang="uk-UA" sz="4800" b="1" dirty="0"/>
          </a:p>
        </p:txBody>
      </p:sp>
      <p:sp>
        <p:nvSpPr>
          <p:cNvPr id="14" name="Місце для вмісту 7">
            <a:extLst>
              <a:ext uri="{FF2B5EF4-FFF2-40B4-BE49-F238E27FC236}">
                <a16:creationId xmlns:a16="http://schemas.microsoft.com/office/drawing/2014/main" id="{C4CDF3FA-2222-4E13-05CE-79238FD69382}"/>
              </a:ext>
            </a:extLst>
          </p:cNvPr>
          <p:cNvSpPr txBox="1">
            <a:spLocks/>
          </p:cNvSpPr>
          <p:nvPr/>
        </p:nvSpPr>
        <p:spPr>
          <a:xfrm>
            <a:off x="443617" y="4763124"/>
            <a:ext cx="11304763" cy="944380"/>
          </a:xfrm>
          <a:prstGeom prst="rect">
            <a:avLst/>
          </a:prstGeom>
          <a:solidFill>
            <a:srgbClr val="FFFFFF">
              <a:alpha val="40000"/>
            </a:srgbClr>
          </a:solidFill>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dirty="0"/>
              <a:t>More information about the author:</a:t>
            </a:r>
          </a:p>
          <a:p>
            <a:r>
              <a:rPr lang="en-US" dirty="0">
                <a:hlinkClick r:id="rId3"/>
              </a:rPr>
              <a:t>LinkedIn</a:t>
            </a:r>
            <a:r>
              <a:rPr lang="en-US" dirty="0"/>
              <a:t>                        </a:t>
            </a:r>
            <a:r>
              <a:rPr lang="en-US" dirty="0">
                <a:hlinkClick r:id="rId4"/>
              </a:rPr>
              <a:t>GitHub</a:t>
            </a:r>
            <a:endParaRPr lang="uk-UA" dirty="0"/>
          </a:p>
        </p:txBody>
      </p:sp>
    </p:spTree>
    <p:extLst>
      <p:ext uri="{BB962C8B-B14F-4D97-AF65-F5344CB8AC3E}">
        <p14:creationId xmlns:p14="http://schemas.microsoft.com/office/powerpoint/2010/main" val="2922714754"/>
      </p:ext>
    </p:extLst>
  </p:cSld>
  <p:clrMapOvr>
    <a:masterClrMapping/>
  </p:clrMapOvr>
</p:sld>
</file>

<file path=ppt/theme/theme1.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Офіс">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Офіс">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Офіс">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TotalTime>
  <Words>1567</Words>
  <Application>Microsoft Office PowerPoint</Application>
  <PresentationFormat>Широкий екран</PresentationFormat>
  <Paragraphs>82</Paragraphs>
  <Slides>14</Slides>
  <Notes>0</Notes>
  <HiddenSlides>0</HiddenSlides>
  <MMClips>0</MMClips>
  <ScaleCrop>false</ScaleCrop>
  <HeadingPairs>
    <vt:vector size="6" baseType="variant">
      <vt:variant>
        <vt:lpstr>Використані шрифти</vt:lpstr>
      </vt:variant>
      <vt:variant>
        <vt:i4>3</vt:i4>
      </vt:variant>
      <vt:variant>
        <vt:lpstr>Тема</vt:lpstr>
      </vt:variant>
      <vt:variant>
        <vt:i4>1</vt:i4>
      </vt:variant>
      <vt:variant>
        <vt:lpstr>Заголовки слайдів</vt:lpstr>
      </vt:variant>
      <vt:variant>
        <vt:i4>14</vt:i4>
      </vt:variant>
    </vt:vector>
  </HeadingPairs>
  <TitlesOfParts>
    <vt:vector size="18" baseType="lpstr">
      <vt:lpstr>Arial</vt:lpstr>
      <vt:lpstr>Calibri</vt:lpstr>
      <vt:lpstr>Calibri Light</vt:lpstr>
      <vt:lpstr>Тема Office</vt:lpstr>
      <vt:lpstr>WAREHOUSE APP v 1.0</vt:lpstr>
      <vt:lpstr>Navigation</vt:lpstr>
      <vt:lpstr>Презентація PowerPoint</vt:lpstr>
      <vt:lpstr>2. How does it work?</vt:lpstr>
      <vt:lpstr>3. Potential users</vt:lpstr>
      <vt:lpstr>4. Demonstration</vt:lpstr>
      <vt:lpstr>5. Challenges faced and their solutions</vt:lpstr>
      <vt:lpstr>Презентація PowerPoint</vt:lpstr>
      <vt:lpstr>Презентація PowerPoint</vt:lpstr>
      <vt:lpstr>Презентація PowerPoint</vt:lpstr>
      <vt:lpstr>6. Future steps</vt:lpstr>
      <vt:lpstr>7. Summary points</vt:lpstr>
      <vt:lpstr>8. Conclusions</vt:lpstr>
      <vt:lpstr>Thank you for watching!</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Mark Mark</dc:creator>
  <cp:lastModifiedBy>Mark Mark</cp:lastModifiedBy>
  <cp:revision>20</cp:revision>
  <dcterms:created xsi:type="dcterms:W3CDTF">2026-07-13T17:28:39Z</dcterms:created>
  <dcterms:modified xsi:type="dcterms:W3CDTF">2026-07-20T14:00:15Z</dcterms:modified>
</cp:coreProperties>
</file>